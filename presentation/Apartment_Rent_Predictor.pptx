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F0C5571E-83C4-4473-B06F-0E8EF2A6E35F}">
          <p14:sldIdLst>
            <p14:sldId id="256"/>
            <p14:sldId id="257"/>
          </p14:sldIdLst>
        </p14:section>
        <p14:section name="Datos" id="{0C75F421-F2F3-CF9C-E8C0-63DEAD77E0F3}">
          <p14:sldIdLst>
            <p14:sldId id="258"/>
            <p14:sldId id="259"/>
            <p14:sldId id="260"/>
            <p14:sldId id="261"/>
          </p14:sldIdLst>
        </p14:section>
        <p14:section name="Modelado" id="{1926A780-247B-FA8D-FA32-4ED357A8F51C}">
          <p14:sldIdLst>
            <p14:sldId id="262"/>
            <p14:sldId id="263"/>
            <p14:sldId id="264"/>
          </p14:sldIdLst>
        </p14:section>
        <p14:section name="Hallazgos" id="{4E7A06EC-A8E6-6E68-97E7-F6B4739A78FA}">
          <p14:sldIdLst>
            <p14:sldId id="265"/>
            <p14:sldId id="266"/>
            <p14:sldId id="267"/>
          </p14:sldIdLst>
        </p14:section>
        <p14:section name="Cierre" id="{E0DB287F-5091-2C66-8ABE-31F1F9E6C9F2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126" y="14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A"/>
                </a:solidFill>
                <a:latin typeface="+mn-lt"/>
              </a:defRPr>
            </a:pPr>
            <a:r>
              <a:rPr lang="es-ES" sz="1300" b="0" i="0" u="none" strike="noStrike">
                <a:solidFill>
                  <a:srgbClr val="1B2A3A"/>
                </a:solidFill>
                <a:latin typeface="+mn-lt"/>
              </a:rPr>
              <a:t>Evolución del R² en el test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B9BFC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9BF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6EB-4910-8EA2-31F840B3CA62}"/>
              </c:ext>
            </c:extLst>
          </c:dPt>
          <c:dPt>
            <c:idx val="1"/>
            <c:invertIfNegative val="0"/>
            <c:bubble3D val="0"/>
            <c:spPr>
              <a:solidFill>
                <a:srgbClr val="B9BF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6EB-4910-8EA2-31F840B3CA62}"/>
              </c:ext>
            </c:extLst>
          </c:dPt>
          <c:dPt>
            <c:idx val="2"/>
            <c:invertIfNegative val="0"/>
            <c:bubble3D val="0"/>
            <c:spPr>
              <a:solidFill>
                <a:srgbClr val="B9BF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6EB-4910-8EA2-31F840B3CA62}"/>
              </c:ext>
            </c:extLst>
          </c:dPt>
          <c:dPt>
            <c:idx val="3"/>
            <c:invertIfNegative val="0"/>
            <c:bubble3D val="0"/>
            <c:spPr>
              <a:solidFill>
                <a:srgbClr val="8A93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6EB-4910-8EA2-31F840B3CA62}"/>
              </c:ext>
            </c:extLst>
          </c:dPt>
          <c:dPt>
            <c:idx val="4"/>
            <c:invertIfNegative val="0"/>
            <c:bubble3D val="0"/>
            <c:spPr>
              <a:solidFill>
                <a:srgbClr val="C05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6EB-4910-8EA2-31F840B3CA62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KNN (inicio)</c:v>
                </c:pt>
                <c:pt idx="1">
                  <c:v>KNN escalado</c:v>
                </c:pt>
                <c:pt idx="2">
                  <c:v>Árbol</c:v>
                </c:pt>
                <c:pt idx="3">
                  <c:v>Random Forest</c:v>
                </c:pt>
                <c:pt idx="4">
                  <c:v>RF ajustado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0.63800000000000001</c:v>
                </c:pt>
                <c:pt idx="1">
                  <c:v>0.622</c:v>
                </c:pt>
                <c:pt idx="2">
                  <c:v>0.65300000000000002</c:v>
                </c:pt>
                <c:pt idx="3">
                  <c:v>0.78700000000000003</c:v>
                </c:pt>
                <c:pt idx="4">
                  <c:v>0.79400000000000004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6EB-4910-8EA2-31F840B3CA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6A"/>
                </a:solidFill>
                <a:latin typeface="+mn-lt"/>
              </a:defRPr>
            </a:pPr>
            <a:endParaRPr lang="es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majorGridlines>
          <c:spPr>
            <a:ln w="6350" cap="flat">
              <a:solidFill>
                <a:srgbClr val="E4DE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B9BFC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BB-4DB3-A2FA-3555A22C4BE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9BB-4DB3-A2FA-3555A22C4BE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9BB-4DB3-A2FA-3555A22C4BED}"/>
              </c:ext>
            </c:extLst>
          </c:dPt>
          <c:dPt>
            <c:idx val="3"/>
            <c:invertIfNegative val="0"/>
            <c:bubble3D val="0"/>
            <c:spPr>
              <a:solidFill>
                <a:srgbClr val="8A93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BB-4DB3-A2FA-3555A22C4BED}"/>
              </c:ext>
            </c:extLst>
          </c:dPt>
          <c:dPt>
            <c:idx val="4"/>
            <c:invertIfNegative val="0"/>
            <c:bubble3D val="0"/>
            <c:spPr>
              <a:solidFill>
                <a:srgbClr val="C05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BB-4DB3-A2FA-3555A22C4BE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Mascotas</c:v>
                </c:pt>
                <c:pt idx="1">
                  <c:v>Servicios</c:v>
                </c:pt>
                <c:pt idx="2">
                  <c:v>Dormitorios</c:v>
                </c:pt>
                <c:pt idx="3">
                  <c:v>Superficie</c:v>
                </c:pt>
                <c:pt idx="4">
                  <c:v>Ubicación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2.6</c:v>
                </c:pt>
                <c:pt idx="2">
                  <c:v>2.8</c:v>
                </c:pt>
                <c:pt idx="3">
                  <c:v>26.3</c:v>
                </c:pt>
                <c:pt idx="4">
                  <c:v>67.2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9BB-4DB3-A2FA-3555A22C4B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6A"/>
                </a:solidFill>
                <a:latin typeface="+mn-lt"/>
              </a:defRPr>
            </a:pPr>
            <a:endParaRPr lang="es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+mn-lt"/>
              </a:defRPr>
            </a:pPr>
            <a:r>
              <a:rPr lang="es-ES" sz="1200" b="0" i="0" u="none" strike="noStrike">
                <a:solidFill>
                  <a:srgbClr val="1B2A3A"/>
                </a:solidFill>
                <a:latin typeface="+mn-lt"/>
              </a:rPr>
              <a:t>R² en los datos nuevos, según la ciudad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C0563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765-410B-8A1E-DC8A75B36FED}"/>
              </c:ext>
            </c:extLst>
          </c:dPt>
          <c:dPt>
            <c:idx val="1"/>
            <c:invertIfNegative val="0"/>
            <c:bubble3D val="0"/>
            <c:spPr>
              <a:solidFill>
                <a:srgbClr val="B9BF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765-410B-8A1E-DC8A75B36FED}"/>
              </c:ext>
            </c:extLst>
          </c:dPt>
          <c:dPt>
            <c:idx val="2"/>
            <c:invertIfNegative val="0"/>
            <c:bubble3D val="0"/>
            <c:spPr>
              <a:solidFill>
                <a:srgbClr val="8A93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765-410B-8A1E-DC8A75B36FED}"/>
              </c:ext>
            </c:extLst>
          </c:dPt>
          <c:dPt>
            <c:idx val="3"/>
            <c:invertIfNegative val="0"/>
            <c:bubble3D val="0"/>
            <c:spPr>
              <a:solidFill>
                <a:srgbClr val="8A93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765-410B-8A1E-DC8A75B36FE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Nunca vista</c:v>
                </c:pt>
                <c:pt idx="1">
                  <c:v>1–4</c:v>
                </c:pt>
                <c:pt idx="2">
                  <c:v>5–19</c:v>
                </c:pt>
                <c:pt idx="3">
                  <c:v>20 o más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0.52900000000000003</c:v>
                </c:pt>
                <c:pt idx="1">
                  <c:v>0.60799999999999998</c:v>
                </c:pt>
                <c:pt idx="2">
                  <c:v>0.71099999999999997</c:v>
                </c:pt>
                <c:pt idx="3">
                  <c:v>0.71299999999999997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765-410B-8A1E-DC8A75B36F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6A"/>
                </a:solidFill>
                <a:latin typeface="+mn-lt"/>
              </a:defRPr>
            </a:pPr>
            <a:endParaRPr lang="es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majorGridlines>
          <c:spPr>
            <a:ln w="6350" cap="flat">
              <a:solidFill>
                <a:srgbClr val="E4DE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500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Presentación: soy arquitecto con formación en planeamiento urbano. En este proyecto he aplicado Machine Learning a una pregunta del sector inmobiliario: cuánto debería costar el alquiler de una vivienda.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es doble: estimar el precio por metro cuadrado que debería tener una vivienda y, a partir de esa estimación, detectar si un anuncio está por encima o por debajo del mercado. Es una herramienta PropTech, es decir, tecnología aplicada al sector inmobiliario, y el mismo cálculo sirve a tres usuarios: al inquilino, para saber si un alquiler es justo antes de firmar; al inversor, para encontrar viviendas por debajo del mercado y estimar la renta que puede esperar; y a un portal inmobiliario, para sugerir un precio a quien publica y avisar de los anuncios fuera de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Primero, el data leakage: el texto del anuncio decía el precio, así que eliminé esas columnas para que el modelo aprendiera y no copiara. Segundo, los valores extremos: los revisé uno a uno, eliminé solo los errores y conservé las viviendas de lujo reales; en ciudades universitarias los anuncios mostraban el precio por habitación. Tercero, los huecos: en lugar de borrar los anuncios sin servicios, convertí cada servicio en una columna de sí o no. Se conservó el 98,5% de los datos: de 10.000 anuncios y 22 columnas a 9.848 anuncios con hasta 87 variables, al codificar los servicios y los estados.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mapa de correlación: cuanto más oscuro, más relación entre dos variables. La última fila es la clave: qué variables se relacionan con el precio por metro cuadrado. Superficie, dormitorios y longitud son las más fuertes. Latitud sola apenas se relaciona, pero la mantengo porque junto con longitud marca la ubicación. También sirve para ver información repetida: baños dice casi lo mismo que superficie y gatos casi lo mismo que perros, así que me quedo con una de cada par. Foto y número de servicios apenas se relacionan. De aquí salen las cinco variables principales.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Probé siete combinaciones de variables, de más a menos. La más grande tiene 87: las 36 del anuncio y los 51 estados. Con el heatmap me quedé con cinco principales y descarté las que repetían información, como los baños o los gatos. A esas cinco les fui sumando paquetes. El número de servicios resume los 27 servicios en un solo número. Y los estados: comprobé que California sola recoge casi todo el efecto de los 51 estados, con 7 variables se llega a 0,785 frente a 0,789 con todas. Elegí la de 57, cinco principales más servicios más estados, porque rinde igual y en la app el estado sale solo de la ciudad.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Probé seis modelos con siete combinaciones de variables, desde 6 hasta 87. Random Forest es el mejor en seis de las siete; en la otra, AdaBoost lo supera por tres milésimas. Y entre configuraciones las diferencias son mínimas, menores que la variación entre particiones. Por eso elegí la de 57 variables: la misma precisión y la que mejor encaja con la aplicación.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Planteé la elección del modelo como una eliminatoria. La regresión lineal quedó fuera porque supone relaciones en línea recta y la ubicación no lo es. El árbol de decisión mejoraba, pero memorizaba. El gran salto llegó con los modelos ensemble, que combinan cientos de árboles. A la final llegaron Random Forest y AdaBoost, y a los dos les apliqué el mismo ajuste: Grid Search y Random Search. Para leer la tabla: el R² es cuánto de la variación del precio explica el modelo; el MAE, el error medio en dólares por metro cuadrado; y el RMSE es parecido pero castiga más los errores grandes. Los dos quedan prácticamente empatados; AdaBoost tiene un MAE una centésima menor, pero Random Forest con Random Search gana en validación cruzada, en R² y en RMSE, por eso es el modelo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los cinco hiperparámetros del modelo final. n_estimators es el número de árboles: 400. max_depth limita cuántas preguntas seguidas hace cada árbol: 25. max_leaf_nodes limita los grupos finales de cada árbol, para que no memorice: 2866. min_samples_leaf obliga a que cada grupo final tenga al menos 2 viviendas. Y el clave, max_features: cada árbol solo mira el 60% de las variables en cada pregunta. ¿Cómo los elegí? Primero Grid Search: tres parámetros, 125 combinaciones, todas con validación cruzada; llegó a 0,780. Después Random Search: cinco parámetros con rangos más amplios, 200 combinaciones al azar; llegó a 0,788 y es el que uso. La mejora vino sobre todo de max_features, que el Grid no probaba.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 punto de partida, un R² de 0,64, al modelo final, 0,79. En la práctica, el modelo se equivoca de media unos 227 dólares al mes en un piso de 75 metros cuadrados. Y el resultado en el test coincide con la validación cruzada: el modelo generaliza.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hallazgos. Primero: la ubicación aporta el 67% y la superficie el 26%; entre las dos, el 93%. El valor de un alquiler lo decide dónde está la vivienda y cuánto mide. Segundo: dos algoritmos distintos llegaron al mismo resultado. El límite está en los datos, no en el modelo. Por eso lo siguiente fue probar con datos nuevos.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Probé el modelo con 88.913 anuncios nuevos del dataset completo. Antes eliminé los casi 10.000 que ya conocía, y el modelo solo vio las características, no el precio. El error medio apenas sube, de 227 a 247 dólares al mes. Y cuanto más conocía la ciudad, mejor predecía. Agrupé las ciudades según cuántos anuncios suyos había en el entrenamiento: nunca vista significa que el modelo no había visto ningún anuncio de esa ciudad, y ahí el R² baja a 0,53; con 20 o más anuncios sube a 0,71. En las grandes ciudades el precio depende del barrio, y eso el modelo todavía no lo sabe.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comparo el test con los datos nuevos. El test eran 1.970 anuncios, el 20% del dataset de 10.000; los datos nuevos, 88.913 del dataset de 100.000. El R² baja de 0,79 a 0,67, pero el error medio solo sube de 3,03 a 3,29 dólares por metro cuadrado, un 9%. Para que se entienda en dinero, lo paso a un piso de 75 metros cuadrados, que es la mediana de superficie del dataset: unos 227 dólares al mes de error en el test y 247 con datos nuevos, solo 20 más. La conclusión final: el modelo generaliza. El R² baja porque en los datos nuevos aparecen ciudades que no conocía, no porque haya memorizado. Es una herramienta fiable para estimar alquileres donde tiene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limitaciones: los datos son de 2019, anteriores a la pandemia; la distribución geográfica es desigual, con Texas y California concentrando una cuarta parte; hay pocas viviendas de lujo, así que ahí el error es mayor; y las búsquedas de hiperparámetros no garantizan el óptimo, solo el mejor de lo probado.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el límite está en los datos, los próximos pasos van por ahí: más datos, datos actuales y variables urbanas a escala de barrio. Y desde el urbanismo, utilizar modelos urbanos: econometría espacial, regresión geográficamente ponderada y validación cruzada espacial.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Ahora la demo en directo. Abrir la app unos minutos antes. Ejemplo: Austin, Texas, 75 metros cuadrados, 2 dormitorios, 5 servicios y perros admitidos: 16,94 dólares por metro cuadrado, 1.271 al mes. Probar un anuncio de 1.600 dólares: sobrevalorado. Y una ciudad pequeña como Pampa para enseñar el aviso. Si falla la conexión, usar esta captura.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Gracias. Quedo abierto 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kern="0" spc="2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278892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2"/>
                </a:solidFill>
              </a:rPr>
              <a:t>Apartment Rent Predictor  ·  Juan Carlos Del Mar Lostanau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3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51206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3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partment-rent-predictor.streamlit.app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PROYECTO DE MACHINE LEARNING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Apartment Rent Predictor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27889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</a:rPr>
              <a:t>Predicción del precio de alquiler por m² y detector de oportunidades</a:t>
            </a:r>
            <a:endParaRPr lang="en-US" sz="18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Juan Carlos Del Mar Lostanau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Arquitecto · Estudios de máster en Planeamiento Urbano · Ironhack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El problema</a:t>
            </a:r>
            <a:endParaRPr lang="en-US" sz="2800" dirty="0"/>
          </a:p>
        </p:txBody>
      </p:sp>
      <p:sp>
        <p:nvSpPr>
          <p:cNvPr id="3" name="Pregunta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¿Cuánto debería costar el alquiler de esta vivienda?</a:t>
            </a:r>
            <a:endParaRPr lang="en-US" sz="2600" dirty="0"/>
          </a:p>
        </p:txBody>
      </p:sp>
      <p:sp>
        <p:nvSpPr>
          <p:cNvPr id="4" name="Contexto"/>
          <p:cNvSpPr txBox="1"/>
          <p:nvPr/>
        </p:nvSpPr>
        <p:spPr>
          <a:xfrm>
            <a:off x="45720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</a:rPr>
              <a:t>10.000 anuncios de alquiler en Estados Unidos (2019) · UCI Machine Learning Repository</a:t>
            </a:r>
            <a:endParaRPr lang="en-US" sz="1300" dirty="0"/>
          </a:p>
        </p:txBody>
      </p:sp>
      <p:sp>
        <p:nvSpPr>
          <p:cNvPr id="5" name="Tarjeta Estimar"/>
          <p:cNvSpPr/>
          <p:nvPr/>
        </p:nvSpPr>
        <p:spPr>
          <a:xfrm>
            <a:off x="457200" y="2194560"/>
            <a:ext cx="3291840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arjeta Estimar círculo"/>
          <p:cNvSpPr/>
          <p:nvPr/>
        </p:nvSpPr>
        <p:spPr>
          <a:xfrm>
            <a:off x="640080" y="2377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arjeta Estimar número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ítulo Estimar"/>
          <p:cNvSpPr txBox="1"/>
          <p:nvPr/>
        </p:nvSpPr>
        <p:spPr>
          <a:xfrm>
            <a:off x="1188720" y="2377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Estimar</a:t>
            </a:r>
            <a:endParaRPr lang="en-US" sz="1800" dirty="0"/>
          </a:p>
        </p:txBody>
      </p:sp>
      <p:sp>
        <p:nvSpPr>
          <p:cNvPr id="9" name="Texto Estimar"/>
          <p:cNvSpPr txBox="1"/>
          <p:nvPr/>
        </p:nvSpPr>
        <p:spPr>
          <a:xfrm>
            <a:off x="640080" y="28163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El precio por m² de una vivienda a partir de su ubicación, superficie, dormitorios y servicios.</a:t>
            </a:r>
            <a:endParaRPr lang="en-US" sz="1200" dirty="0"/>
          </a:p>
        </p:txBody>
      </p:sp>
      <p:sp>
        <p:nvSpPr>
          <p:cNvPr id="10" name="Tarjeta Detectar"/>
          <p:cNvSpPr/>
          <p:nvPr/>
        </p:nvSpPr>
        <p:spPr>
          <a:xfrm>
            <a:off x="457200" y="3429000"/>
            <a:ext cx="3291840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Tarjeta Detectar círculo"/>
          <p:cNvSpPr/>
          <p:nvPr/>
        </p:nvSpPr>
        <p:spPr>
          <a:xfrm>
            <a:off x="640080" y="3611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arjeta Detectar número"/>
          <p:cNvSpPr txBox="1"/>
          <p:nvPr/>
        </p:nvSpPr>
        <p:spPr>
          <a:xfrm>
            <a:off x="64008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ítulo Detectar"/>
          <p:cNvSpPr txBox="1"/>
          <p:nvPr/>
        </p:nvSpPr>
        <p:spPr>
          <a:xfrm>
            <a:off x="1188720" y="3611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Detectar</a:t>
            </a:r>
            <a:endParaRPr lang="en-US" sz="1800" dirty="0"/>
          </a:p>
        </p:txBody>
      </p:sp>
      <p:sp>
        <p:nvSpPr>
          <p:cNvPr id="14" name="Texto Detectar"/>
          <p:cNvSpPr txBox="1"/>
          <p:nvPr/>
        </p:nvSpPr>
        <p:spPr>
          <a:xfrm>
            <a:off x="640080" y="40507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Anuncios sobrevalorados u oportunidades, comparando su precio real con el estimado.</a:t>
            </a:r>
            <a:endParaRPr lang="en-US" sz="1200" dirty="0"/>
          </a:p>
        </p:txBody>
      </p:sp>
      <p:sp>
        <p:nvSpPr>
          <p:cNvPr id="15" name="Para quién"/>
          <p:cNvSpPr/>
          <p:nvPr/>
        </p:nvSpPr>
        <p:spPr>
          <a:xfrm>
            <a:off x="3977640" y="2194560"/>
            <a:ext cx="4709160" cy="233172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6" name="Para quién título"/>
          <p:cNvSpPr txBox="1"/>
          <p:nvPr/>
        </p:nvSpPr>
        <p:spPr>
          <a:xfrm>
            <a:off x="4206240" y="2331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Para quién: </a:t>
            </a:r>
            <a:r>
              <a:rPr lang="en-US" sz="1600" b="1" dirty="0">
                <a:solidFill>
                  <a:schemeClr val="accent1"/>
                </a:solidFill>
              </a:rPr>
              <a:t>una herramienta PropTech</a:t>
            </a:r>
            <a:endParaRPr lang="en-US" sz="1600" dirty="0"/>
          </a:p>
        </p:txBody>
      </p:sp>
      <p:sp>
        <p:nvSpPr>
          <p:cNvPr id="17" name="PropTech definición"/>
          <p:cNvSpPr txBox="1"/>
          <p:nvPr/>
        </p:nvSpPr>
        <p:spPr>
          <a:xfrm>
            <a:off x="4206240" y="2651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Tecnología aplicada al sector inmobiliario. El mismo cálculo responde a necesidades distintas:</a:t>
            </a:r>
            <a:endParaRPr lang="en-US" sz="1100" dirty="0"/>
          </a:p>
        </p:txBody>
      </p:sp>
      <p:sp>
        <p:nvSpPr>
          <p:cNvPr id="18" name="Usuarios"/>
          <p:cNvSpPr txBox="1"/>
          <p:nvPr/>
        </p:nvSpPr>
        <p:spPr>
          <a:xfrm>
            <a:off x="4206240" y="3127248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Inquilinos: </a:t>
            </a:r>
            <a:r>
              <a:rPr lang="en-US" sz="1200" dirty="0">
                <a:solidFill>
                  <a:schemeClr val="bg1"/>
                </a:solidFill>
              </a:rPr>
              <a:t>saber si un alquiler es justo antes de firmar.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Inversores: </a:t>
            </a:r>
            <a:r>
              <a:rPr lang="en-US" sz="1200" dirty="0">
                <a:solidFill>
                  <a:schemeClr val="bg1"/>
                </a:solidFill>
              </a:rPr>
              <a:t>detectar viviendas por debajo del mercado y estimar la renta esperada.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Portales: </a:t>
            </a:r>
            <a:r>
              <a:rPr lang="en-US" sz="1200" dirty="0">
                <a:solidFill>
                  <a:schemeClr val="bg1"/>
                </a:solidFill>
              </a:rPr>
              <a:t>proponer un precio a quien publica y señalar anuncios fuera de mercado.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3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Los datos: lo que encontramos y lo que decidimos</a:t>
            </a:r>
            <a:endParaRPr lang="en-US" sz="2800" dirty="0"/>
          </a:p>
        </p:txBody>
      </p:sp>
      <p:sp>
        <p:nvSpPr>
          <p:cNvPr id="3" name="Hallazgo datos 1"/>
          <p:cNvSpPr/>
          <p:nvPr/>
        </p:nvSpPr>
        <p:spPr>
          <a:xfrm>
            <a:off x="457200" y="1051560"/>
            <a:ext cx="5760720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" name="Hallazgo datos 1 círculo"/>
          <p:cNvSpPr/>
          <p:nvPr/>
        </p:nvSpPr>
        <p:spPr>
          <a:xfrm>
            <a:off x="640080" y="1188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Hallazgo datos 1 número"/>
          <p:cNvSpPr txBox="1"/>
          <p:nvPr/>
        </p:nvSpPr>
        <p:spPr>
          <a:xfrm>
            <a:off x="64008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Hallazgo título 1"/>
          <p:cNvSpPr txBox="1"/>
          <p:nvPr/>
        </p:nvSpPr>
        <p:spPr>
          <a:xfrm>
            <a:off x="1143000" y="118872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El precio estaba escondido en el texto (data leakage)</a:t>
            </a:r>
            <a:endParaRPr lang="en-US" sz="1400" dirty="0"/>
          </a:p>
        </p:txBody>
      </p:sp>
      <p:sp>
        <p:nvSpPr>
          <p:cNvPr id="7" name="Hallazgo texto 1"/>
          <p:cNvSpPr txBox="1"/>
          <p:nvPr/>
        </p:nvSpPr>
        <p:spPr>
          <a:xfrm>
            <a:off x="1143000" y="15544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El título, la descripción y el precio en texto del anuncio decían cuánto costaba. Si el modelo los usaba, estaría copiando la respuesta en lugar de aprender.</a:t>
            </a:r>
            <a:endParaRPr lang="en-US" sz="1100" dirty="0"/>
          </a:p>
        </p:txBody>
      </p:sp>
      <p:sp>
        <p:nvSpPr>
          <p:cNvPr id="8" name="Hallazgo decisión 1"/>
          <p:cNvSpPr txBox="1"/>
          <p:nvPr/>
        </p:nvSpPr>
        <p:spPr>
          <a:xfrm>
            <a:off x="1143000" y="190195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→ Se eliminaron esas columnas</a:t>
            </a:r>
            <a:endParaRPr lang="en-US" sz="1100" dirty="0"/>
          </a:p>
        </p:txBody>
      </p:sp>
      <p:sp>
        <p:nvSpPr>
          <p:cNvPr id="9" name="Hallazgo datos 2"/>
          <p:cNvSpPr/>
          <p:nvPr/>
        </p:nvSpPr>
        <p:spPr>
          <a:xfrm>
            <a:off x="457200" y="2240280"/>
            <a:ext cx="5760720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Hallazgo datos 2 círculo"/>
          <p:cNvSpPr/>
          <p:nvPr/>
        </p:nvSpPr>
        <p:spPr>
          <a:xfrm>
            <a:off x="640080" y="2377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Hallazgo datos 2 número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Hallazgo título 2"/>
          <p:cNvSpPr txBox="1"/>
          <p:nvPr/>
        </p:nvSpPr>
        <p:spPr>
          <a:xfrm>
            <a:off x="1143000" y="237744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Valores extremos: ¿errores o realidad?</a:t>
            </a:r>
            <a:endParaRPr lang="en-US" sz="1400" dirty="0"/>
          </a:p>
        </p:txBody>
      </p:sp>
      <p:sp>
        <p:nvSpPr>
          <p:cNvPr id="13" name="Hallazgo texto 2"/>
          <p:cNvSpPr txBox="1"/>
          <p:nvPr/>
        </p:nvSpPr>
        <p:spPr>
          <a:xfrm>
            <a:off x="1143000" y="27432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Un estudio de 52.500 $ en un pueblo del desierto frente a mansiones reales en Montecito. Pisos de 200 m² por 430 $ (precio por habitación) y "viviendas" de 10 m².</a:t>
            </a:r>
            <a:endParaRPr lang="en-US" sz="1100" dirty="0"/>
          </a:p>
        </p:txBody>
      </p:sp>
      <p:sp>
        <p:nvSpPr>
          <p:cNvPr id="14" name="Hallazgo decisión 2"/>
          <p:cNvSpPr txBox="1"/>
          <p:nvPr/>
        </p:nvSpPr>
        <p:spPr>
          <a:xfrm>
            <a:off x="1143000" y="309067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→ Solo se eliminaron los errores: mínimo de 20 m² y de 5 $/m²</a:t>
            </a:r>
            <a:endParaRPr lang="en-US" sz="1100" dirty="0"/>
          </a:p>
        </p:txBody>
      </p:sp>
      <p:sp>
        <p:nvSpPr>
          <p:cNvPr id="15" name="Hallazgo datos 3"/>
          <p:cNvSpPr/>
          <p:nvPr/>
        </p:nvSpPr>
        <p:spPr>
          <a:xfrm>
            <a:off x="457200" y="3429000"/>
            <a:ext cx="5760720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6" name="Hallazgo datos 3 círculo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Hallazgo datos 3 número"/>
          <p:cNvSpPr txBox="1"/>
          <p:nvPr/>
        </p:nvSpPr>
        <p:spPr>
          <a:xfrm>
            <a:off x="6400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Hallazgo título 3"/>
          <p:cNvSpPr txBox="1"/>
          <p:nvPr/>
        </p:nvSpPr>
        <p:spPr>
          <a:xfrm>
            <a:off x="1143000" y="35661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Los huecos también son información</a:t>
            </a:r>
            <a:endParaRPr lang="en-US" sz="1400" dirty="0"/>
          </a:p>
        </p:txBody>
      </p:sp>
      <p:sp>
        <p:nvSpPr>
          <p:cNvPr id="19" name="Hallazgo texto 3"/>
          <p:cNvSpPr txBox="1"/>
          <p:nvPr/>
        </p:nvSpPr>
        <p:spPr>
          <a:xfrm>
            <a:off x="1143000" y="39319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El 35% de los anuncios no mencionaba servicios (valores nulos). Eliminarlos habría supuesto perder un tercio de los datos.</a:t>
            </a:r>
            <a:endParaRPr lang="en-US" sz="1100" dirty="0"/>
          </a:p>
        </p:txBody>
      </p:sp>
      <p:sp>
        <p:nvSpPr>
          <p:cNvPr id="20" name="Hallazgo decisión 3"/>
          <p:cNvSpPr txBox="1"/>
          <p:nvPr/>
        </p:nvSpPr>
        <p:spPr>
          <a:xfrm>
            <a:off x="1143000" y="427939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→ Dummies: cada servicio, una columna de 1/0; los nulos pasan a 0</a:t>
            </a:r>
            <a:endParaRPr lang="en-US" sz="1100" dirty="0"/>
          </a:p>
        </p:txBody>
      </p:sp>
      <p:sp>
        <p:nvSpPr>
          <p:cNvPr id="21" name="Resultado limpieza"/>
          <p:cNvSpPr/>
          <p:nvPr/>
        </p:nvSpPr>
        <p:spPr>
          <a:xfrm>
            <a:off x="6400800" y="1051560"/>
            <a:ext cx="2286000" cy="347472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Resultado cifra"/>
          <p:cNvSpPr txBox="1"/>
          <p:nvPr/>
        </p:nvSpPr>
        <p:spPr>
          <a:xfrm>
            <a:off x="6583680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600" b="1" dirty="0">
                <a:solidFill>
                  <a:schemeClr val="accent1"/>
                </a:solidFill>
              </a:rPr>
              <a:t>98,5%</a:t>
            </a:r>
            <a:endParaRPr lang="en-US" sz="4600" dirty="0"/>
          </a:p>
        </p:txBody>
      </p:sp>
      <p:sp>
        <p:nvSpPr>
          <p:cNvPr id="23" name="Resultado texto"/>
          <p:cNvSpPr txBox="1"/>
          <p:nvPr/>
        </p:nvSpPr>
        <p:spPr>
          <a:xfrm>
            <a:off x="658368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de los anuncios conservados</a:t>
            </a:r>
            <a:endParaRPr lang="en-US" sz="1300" dirty="0"/>
          </a:p>
        </p:txBody>
      </p:sp>
      <p:sp>
        <p:nvSpPr>
          <p:cNvPr id="24" name="Resultado detalle"/>
          <p:cNvSpPr txBox="1"/>
          <p:nvPr/>
        </p:nvSpPr>
        <p:spPr>
          <a:xfrm>
            <a:off x="6537960" y="2697480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3"/>
                </a:solidFill>
              </a:rPr>
              <a:t>Datos originales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10.000 anuncios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22 columnas</a:t>
            </a:r>
            <a:endParaRPr lang="en-US" sz="1300" dirty="0"/>
          </a:p>
          <a:p>
            <a:pPr marL="0" indent="0" algn="ctr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3"/>
                </a:solidFill>
              </a:rPr>
              <a:t>Datos limpios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9.848 anuncios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hasta 87 variables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3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El heatmap: qué se relaciona con el precio</a:t>
            </a:r>
            <a:endParaRPr lang="en-US" sz="2800" dirty="0"/>
          </a:p>
        </p:txBody>
      </p:sp>
      <p:pic>
        <p:nvPicPr>
          <p:cNvPr id="3" name="Heatmap correlación" descr="Mapa de calor de la correlación (valor absoluto) entre las variables principales y el precio por m²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68680"/>
            <a:ext cx="4449563" cy="3977640"/>
          </a:xfrm>
          <a:prstGeom prst="rect">
            <a:avLst/>
          </a:prstGeom>
        </p:spPr>
      </p:pic>
      <p:sp>
        <p:nvSpPr>
          <p:cNvPr id="4" name="Lectura 1 círculo"/>
          <p:cNvSpPr/>
          <p:nvPr/>
        </p:nvSpPr>
        <p:spPr>
          <a:xfrm>
            <a:off x="5074920" y="9601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Lectura 1 número"/>
          <p:cNvSpPr txBox="1"/>
          <p:nvPr/>
        </p:nvSpPr>
        <p:spPr>
          <a:xfrm>
            <a:off x="507492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Lectura título 1"/>
          <p:cNvSpPr txBox="1"/>
          <p:nvPr/>
        </p:nvSpPr>
        <p:spPr>
          <a:xfrm>
            <a:off x="5577840" y="960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 el precio</a:t>
            </a:r>
            <a:endParaRPr lang="en-US" sz="1500" dirty="0"/>
          </a:p>
        </p:txBody>
      </p:sp>
      <p:sp>
        <p:nvSpPr>
          <p:cNvPr id="7" name="Lectura texto 1"/>
          <p:cNvSpPr txBox="1"/>
          <p:nvPr/>
        </p:nvSpPr>
        <p:spPr>
          <a:xfrm>
            <a:off x="5577840" y="13441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Superficie (0,32), dormitorios y longitud (0,26) son las más relacionadas. Latitud se queda porque, junto a longitud, define la ubicación.</a:t>
            </a:r>
            <a:endParaRPr lang="en-US" sz="1150" dirty="0"/>
          </a:p>
        </p:txBody>
      </p:sp>
      <p:sp>
        <p:nvSpPr>
          <p:cNvPr id="8" name="Lectura 2 círculo"/>
          <p:cNvSpPr/>
          <p:nvPr/>
        </p:nvSpPr>
        <p:spPr>
          <a:xfrm>
            <a:off x="5074920" y="20756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Lectura 2 número"/>
          <p:cNvSpPr txBox="1"/>
          <p:nvPr/>
        </p:nvSpPr>
        <p:spPr>
          <a:xfrm>
            <a:off x="507492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Lectura título 2"/>
          <p:cNvSpPr txBox="1"/>
          <p:nvPr/>
        </p:nvSpPr>
        <p:spPr>
          <a:xfrm>
            <a:off x="5577840" y="20756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Información repetida</a:t>
            </a:r>
            <a:endParaRPr lang="en-US" sz="1500" dirty="0"/>
          </a:p>
        </p:txBody>
      </p:sp>
      <p:sp>
        <p:nvSpPr>
          <p:cNvPr id="11" name="Lectura texto 2"/>
          <p:cNvSpPr txBox="1"/>
          <p:nvPr/>
        </p:nvSpPr>
        <p:spPr>
          <a:xfrm>
            <a:off x="5577840" y="245973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Baños repite la superficie (0,80) y gatos repite perros (0,88): se queda una de cada par.</a:t>
            </a:r>
            <a:endParaRPr lang="en-US" sz="1150" dirty="0"/>
          </a:p>
        </p:txBody>
      </p:sp>
      <p:sp>
        <p:nvSpPr>
          <p:cNvPr id="12" name="Lectura 3 círculo"/>
          <p:cNvSpPr/>
          <p:nvPr/>
        </p:nvSpPr>
        <p:spPr>
          <a:xfrm>
            <a:off x="5074920" y="31912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Lectura 3 número"/>
          <p:cNvSpPr txBox="1"/>
          <p:nvPr/>
        </p:nvSpPr>
        <p:spPr>
          <a:xfrm>
            <a:off x="507492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Lectura título 3"/>
          <p:cNvSpPr txBox="1"/>
          <p:nvPr/>
        </p:nvSpPr>
        <p:spPr>
          <a:xfrm>
            <a:off x="5577840" y="31912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Sin relación</a:t>
            </a:r>
            <a:endParaRPr lang="en-US" sz="1500" dirty="0"/>
          </a:p>
        </p:txBody>
      </p:sp>
      <p:sp>
        <p:nvSpPr>
          <p:cNvPr id="15" name="Lectura texto 3"/>
          <p:cNvSpPr txBox="1"/>
          <p:nvPr/>
        </p:nvSpPr>
        <p:spPr>
          <a:xfrm>
            <a:off x="5577840" y="357530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Foto (0,01) y número de servicios (0,04) apenas se relacionan con el precio por m².</a:t>
            </a:r>
            <a:endParaRPr lang="en-US" sz="1150" dirty="0"/>
          </a:p>
        </p:txBody>
      </p:sp>
      <p:sp>
        <p:nvSpPr>
          <p:cNvPr id="16" name="Nota heatmap"/>
          <p:cNvSpPr txBox="1"/>
          <p:nvPr/>
        </p:nvSpPr>
        <p:spPr>
          <a:xfrm>
            <a:off x="5074920" y="43159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chemeClr val="accent2"/>
                </a:solidFill>
              </a:rPr>
              <a:t>Correlación en valor absoluto, calculada solo con los datos de entrenamiento.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3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Del total a lo esencial: cómo se eligieron las variables</a:t>
            </a:r>
            <a:endParaRPr lang="en-US" sz="2800" dirty="0"/>
          </a:p>
        </p:txBody>
      </p:sp>
      <p:sp>
        <p:nvSpPr>
          <p:cNvPr id="3" name="Config 1"/>
          <p:cNvSpPr/>
          <p:nvPr/>
        </p:nvSpPr>
        <p:spPr>
          <a:xfrm>
            <a:off x="457200" y="1005840"/>
            <a:ext cx="1051560" cy="132588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" name="Config cifra 1"/>
          <p:cNvSpPr txBox="1"/>
          <p:nvPr/>
        </p:nvSpPr>
        <p:spPr>
          <a:xfrm>
            <a:off x="502920" y="10515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87</a:t>
            </a:r>
            <a:endParaRPr lang="en-US" sz="2600" dirty="0"/>
          </a:p>
        </p:txBody>
      </p:sp>
      <p:sp>
        <p:nvSpPr>
          <p:cNvPr id="5" name="Config etiqueta 1"/>
          <p:cNvSpPr txBox="1"/>
          <p:nvPr/>
        </p:nvSpPr>
        <p:spPr>
          <a:xfrm>
            <a:off x="502920" y="15087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Todas + estados</a:t>
            </a:r>
            <a:endParaRPr lang="en-US" sz="1050" dirty="0"/>
          </a:p>
        </p:txBody>
      </p:sp>
      <p:sp>
        <p:nvSpPr>
          <p:cNvPr id="6" name="Config detalle 1"/>
          <p:cNvSpPr txBox="1"/>
          <p:nvPr/>
        </p:nvSpPr>
        <p:spPr>
          <a:xfrm>
            <a:off x="502920" y="18928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</a:rPr>
              <a:t>36 del anuncio + 51 estados</a:t>
            </a:r>
            <a:endParaRPr lang="en-US" sz="900" dirty="0"/>
          </a:p>
        </p:txBody>
      </p:sp>
      <p:sp>
        <p:nvSpPr>
          <p:cNvPr id="7" name="Config 2"/>
          <p:cNvSpPr/>
          <p:nvPr/>
        </p:nvSpPr>
        <p:spPr>
          <a:xfrm>
            <a:off x="1658722" y="1005840"/>
            <a:ext cx="1051560" cy="132588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Config cifra 2"/>
          <p:cNvSpPr txBox="1"/>
          <p:nvPr/>
        </p:nvSpPr>
        <p:spPr>
          <a:xfrm>
            <a:off x="1704442" y="10515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57</a:t>
            </a:r>
            <a:endParaRPr lang="en-US" sz="2600" dirty="0"/>
          </a:p>
        </p:txBody>
      </p:sp>
      <p:sp>
        <p:nvSpPr>
          <p:cNvPr id="9" name="Config etiqueta 2"/>
          <p:cNvSpPr txBox="1"/>
          <p:nvPr/>
        </p:nvSpPr>
        <p:spPr>
          <a:xfrm>
            <a:off x="1704442" y="15087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5 + servicios + estados</a:t>
            </a:r>
            <a:endParaRPr lang="en-US" sz="1050" dirty="0"/>
          </a:p>
        </p:txBody>
      </p:sp>
      <p:sp>
        <p:nvSpPr>
          <p:cNvPr id="10" name="Config detalle 2"/>
          <p:cNvSpPr txBox="1"/>
          <p:nvPr/>
        </p:nvSpPr>
        <p:spPr>
          <a:xfrm>
            <a:off x="1704442" y="18928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3"/>
                </a:solidFill>
              </a:rPr>
              <a:t>la elegida</a:t>
            </a:r>
            <a:endParaRPr lang="en-US" sz="900" dirty="0"/>
          </a:p>
        </p:txBody>
      </p:sp>
      <p:sp>
        <p:nvSpPr>
          <p:cNvPr id="11" name="Config 3"/>
          <p:cNvSpPr/>
          <p:nvPr/>
        </p:nvSpPr>
        <p:spPr>
          <a:xfrm>
            <a:off x="2860243" y="1005840"/>
            <a:ext cx="1051560" cy="132588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2" name="Config cifra 3"/>
          <p:cNvSpPr txBox="1"/>
          <p:nvPr/>
        </p:nvSpPr>
        <p:spPr>
          <a:xfrm>
            <a:off x="2905963" y="10515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56</a:t>
            </a:r>
            <a:endParaRPr lang="en-US" sz="2600" dirty="0"/>
          </a:p>
        </p:txBody>
      </p:sp>
      <p:sp>
        <p:nvSpPr>
          <p:cNvPr id="13" name="Config etiqueta 3"/>
          <p:cNvSpPr txBox="1"/>
          <p:nvPr/>
        </p:nvSpPr>
        <p:spPr>
          <a:xfrm>
            <a:off x="2905963" y="15087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5 + estados</a:t>
            </a:r>
            <a:endParaRPr lang="en-US" sz="1050" dirty="0"/>
          </a:p>
        </p:txBody>
      </p:sp>
      <p:sp>
        <p:nvSpPr>
          <p:cNvPr id="14" name="Config detalle 3"/>
          <p:cNvSpPr txBox="1"/>
          <p:nvPr/>
        </p:nvSpPr>
        <p:spPr>
          <a:xfrm>
            <a:off x="2905963" y="18928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</a:rPr>
              <a:t>sin servicios</a:t>
            </a:r>
            <a:endParaRPr lang="en-US" sz="900" dirty="0"/>
          </a:p>
        </p:txBody>
      </p:sp>
      <p:sp>
        <p:nvSpPr>
          <p:cNvPr id="15" name="Config 4"/>
          <p:cNvSpPr/>
          <p:nvPr/>
        </p:nvSpPr>
        <p:spPr>
          <a:xfrm>
            <a:off x="4061765" y="1005840"/>
            <a:ext cx="1051560" cy="132588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6" name="Config cifra 4"/>
          <p:cNvSpPr txBox="1"/>
          <p:nvPr/>
        </p:nvSpPr>
        <p:spPr>
          <a:xfrm>
            <a:off x="4107485" y="10515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36</a:t>
            </a:r>
            <a:endParaRPr lang="en-US" sz="2600" dirty="0"/>
          </a:p>
        </p:txBody>
      </p:sp>
      <p:sp>
        <p:nvSpPr>
          <p:cNvPr id="17" name="Config etiqueta 4"/>
          <p:cNvSpPr txBox="1"/>
          <p:nvPr/>
        </p:nvSpPr>
        <p:spPr>
          <a:xfrm>
            <a:off x="4107485" y="15087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Todas</a:t>
            </a:r>
            <a:endParaRPr lang="en-US" sz="1050" dirty="0"/>
          </a:p>
        </p:txBody>
      </p:sp>
      <p:sp>
        <p:nvSpPr>
          <p:cNvPr id="18" name="Config detalle 4"/>
          <p:cNvSpPr txBox="1"/>
          <p:nvPr/>
        </p:nvSpPr>
        <p:spPr>
          <a:xfrm>
            <a:off x="4107485" y="18928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</a:rPr>
              <a:t>sin estados</a:t>
            </a:r>
            <a:endParaRPr lang="en-US" sz="900" dirty="0"/>
          </a:p>
        </p:txBody>
      </p:sp>
      <p:sp>
        <p:nvSpPr>
          <p:cNvPr id="19" name="Config 5"/>
          <p:cNvSpPr/>
          <p:nvPr/>
        </p:nvSpPr>
        <p:spPr>
          <a:xfrm>
            <a:off x="5263286" y="1005840"/>
            <a:ext cx="1051560" cy="132588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0" name="Config cifra 5"/>
          <p:cNvSpPr txBox="1"/>
          <p:nvPr/>
        </p:nvSpPr>
        <p:spPr>
          <a:xfrm>
            <a:off x="5309006" y="10515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7</a:t>
            </a:r>
            <a:endParaRPr lang="en-US" sz="2600" dirty="0"/>
          </a:p>
        </p:txBody>
      </p:sp>
      <p:sp>
        <p:nvSpPr>
          <p:cNvPr id="21" name="Config etiqueta 5"/>
          <p:cNvSpPr txBox="1"/>
          <p:nvPr/>
        </p:nvSpPr>
        <p:spPr>
          <a:xfrm>
            <a:off x="5309006" y="15087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5 + CA + servicios</a:t>
            </a:r>
            <a:endParaRPr lang="en-US" sz="1050" dirty="0"/>
          </a:p>
        </p:txBody>
      </p:sp>
      <p:sp>
        <p:nvSpPr>
          <p:cNvPr id="22" name="Config detalle 5"/>
          <p:cNvSpPr txBox="1"/>
          <p:nvPr/>
        </p:nvSpPr>
        <p:spPr>
          <a:xfrm>
            <a:off x="5309006" y="18928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</a:rPr>
              <a:t>California en vez de estados</a:t>
            </a:r>
            <a:endParaRPr lang="en-US" sz="900" dirty="0"/>
          </a:p>
        </p:txBody>
      </p:sp>
      <p:sp>
        <p:nvSpPr>
          <p:cNvPr id="23" name="Config 6"/>
          <p:cNvSpPr/>
          <p:nvPr/>
        </p:nvSpPr>
        <p:spPr>
          <a:xfrm>
            <a:off x="6464808" y="1005840"/>
            <a:ext cx="1051560" cy="132588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4" name="Config cifra 6"/>
          <p:cNvSpPr txBox="1"/>
          <p:nvPr/>
        </p:nvSpPr>
        <p:spPr>
          <a:xfrm>
            <a:off x="6510528" y="10515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6</a:t>
            </a:r>
            <a:endParaRPr lang="en-US" sz="2600" dirty="0"/>
          </a:p>
        </p:txBody>
      </p:sp>
      <p:sp>
        <p:nvSpPr>
          <p:cNvPr id="25" name="Config etiqueta 6"/>
          <p:cNvSpPr txBox="1"/>
          <p:nvPr/>
        </p:nvSpPr>
        <p:spPr>
          <a:xfrm>
            <a:off x="6510528" y="15087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5 + servicios</a:t>
            </a:r>
            <a:endParaRPr lang="en-US" sz="1050" dirty="0"/>
          </a:p>
        </p:txBody>
      </p:sp>
      <p:sp>
        <p:nvSpPr>
          <p:cNvPr id="26" name="Config detalle 6"/>
          <p:cNvSpPr txBox="1"/>
          <p:nvPr/>
        </p:nvSpPr>
        <p:spPr>
          <a:xfrm>
            <a:off x="6510528" y="18928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</a:rPr>
              <a:t>sin ubicación regional</a:t>
            </a:r>
            <a:endParaRPr lang="en-US" sz="900" dirty="0"/>
          </a:p>
        </p:txBody>
      </p:sp>
      <p:sp>
        <p:nvSpPr>
          <p:cNvPr id="27" name="Config 7"/>
          <p:cNvSpPr/>
          <p:nvPr/>
        </p:nvSpPr>
        <p:spPr>
          <a:xfrm>
            <a:off x="7666330" y="1005840"/>
            <a:ext cx="1051560" cy="132588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8" name="Config cifra 7"/>
          <p:cNvSpPr txBox="1"/>
          <p:nvPr/>
        </p:nvSpPr>
        <p:spPr>
          <a:xfrm>
            <a:off x="7712050" y="10515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6</a:t>
            </a:r>
            <a:endParaRPr lang="en-US" sz="2600" dirty="0"/>
          </a:p>
        </p:txBody>
      </p:sp>
      <p:sp>
        <p:nvSpPr>
          <p:cNvPr id="29" name="Config etiqueta 7"/>
          <p:cNvSpPr txBox="1"/>
          <p:nvPr/>
        </p:nvSpPr>
        <p:spPr>
          <a:xfrm>
            <a:off x="7712050" y="15087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2"/>
                </a:solidFill>
              </a:rPr>
              <a:t>5 + CA</a:t>
            </a:r>
            <a:endParaRPr lang="en-US" sz="1050" dirty="0"/>
          </a:p>
        </p:txBody>
      </p:sp>
      <p:sp>
        <p:nvSpPr>
          <p:cNvPr id="30" name="Config detalle 7"/>
          <p:cNvSpPr txBox="1"/>
          <p:nvPr/>
        </p:nvSpPr>
        <p:spPr>
          <a:xfrm>
            <a:off x="7712050" y="18928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4"/>
                </a:solidFill>
              </a:rPr>
              <a:t>solo California</a:t>
            </a:r>
            <a:endParaRPr lang="en-US" sz="900" dirty="0"/>
          </a:p>
        </p:txBody>
      </p:sp>
      <p:sp>
        <p:nvSpPr>
          <p:cNvPr id="31" name="Paquete 1 círculo"/>
          <p:cNvSpPr/>
          <p:nvPr/>
        </p:nvSpPr>
        <p:spPr>
          <a:xfrm>
            <a:off x="457200" y="25603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Paquete 1 número"/>
          <p:cNvSpPr txBox="1"/>
          <p:nvPr/>
        </p:nvSpPr>
        <p:spPr>
          <a:xfrm>
            <a:off x="45720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</p:txBody>
      </p:sp>
      <p:sp>
        <p:nvSpPr>
          <p:cNvPr id="33" name="Paquete título 1"/>
          <p:cNvSpPr txBox="1"/>
          <p:nvPr/>
        </p:nvSpPr>
        <p:spPr>
          <a:xfrm>
            <a:off x="960120" y="2560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Las 5 principales</a:t>
            </a:r>
            <a:endParaRPr lang="en-US" sz="1500" dirty="0"/>
          </a:p>
        </p:txBody>
      </p:sp>
      <p:sp>
        <p:nvSpPr>
          <p:cNvPr id="34" name="Paquete texto 1"/>
          <p:cNvSpPr txBox="1"/>
          <p:nvPr/>
        </p:nvSpPr>
        <p:spPr>
          <a:xfrm>
            <a:off x="457200" y="303580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Elegidas con el heatmap: superficie, dormitorios, latitud, longitud y admisión de perros. Fuera: baños (repite la superficie, 0,80), gatos (repite perros, 0,88), foto y servicios sueltos.</a:t>
            </a:r>
            <a:endParaRPr lang="en-US" sz="1150" dirty="0"/>
          </a:p>
        </p:txBody>
      </p:sp>
      <p:sp>
        <p:nvSpPr>
          <p:cNvPr id="35" name="Paquete 2 círculo"/>
          <p:cNvSpPr/>
          <p:nvPr/>
        </p:nvSpPr>
        <p:spPr>
          <a:xfrm>
            <a:off x="3246120" y="25603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Paquete 2 número"/>
          <p:cNvSpPr txBox="1"/>
          <p:nvPr/>
        </p:nvSpPr>
        <p:spPr>
          <a:xfrm>
            <a:off x="324612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</p:txBody>
      </p:sp>
      <p:sp>
        <p:nvSpPr>
          <p:cNvPr id="37" name="Paquete título 2"/>
          <p:cNvSpPr txBox="1"/>
          <p:nvPr/>
        </p:nvSpPr>
        <p:spPr>
          <a:xfrm>
            <a:off x="3749040" y="2560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Servicios</a:t>
            </a:r>
            <a:endParaRPr lang="en-US" sz="1500" dirty="0"/>
          </a:p>
        </p:txBody>
      </p:sp>
      <p:sp>
        <p:nvSpPr>
          <p:cNvPr id="38" name="Paquete texto 2"/>
          <p:cNvSpPr txBox="1"/>
          <p:nvPr/>
        </p:nvSpPr>
        <p:spPr>
          <a:xfrm>
            <a:off x="3246120" y="303580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amenities_count resume los 27 servicios del anuncio en un solo número. La correlación lo descartaba, pero los modelos ensemble sí lo aprovechan.</a:t>
            </a:r>
            <a:endParaRPr lang="en-US" sz="1150" dirty="0"/>
          </a:p>
        </p:txBody>
      </p:sp>
      <p:sp>
        <p:nvSpPr>
          <p:cNvPr id="39" name="Paquete 3 círculo"/>
          <p:cNvSpPr/>
          <p:nvPr/>
        </p:nvSpPr>
        <p:spPr>
          <a:xfrm>
            <a:off x="6035040" y="25603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Paquete 3 número"/>
          <p:cNvSpPr txBox="1"/>
          <p:nvPr/>
        </p:nvSpPr>
        <p:spPr>
          <a:xfrm>
            <a:off x="60350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/>
          </a:p>
        </p:txBody>
      </p:sp>
      <p:sp>
        <p:nvSpPr>
          <p:cNvPr id="41" name="Paquete título 3"/>
          <p:cNvSpPr txBox="1"/>
          <p:nvPr/>
        </p:nvSpPr>
        <p:spPr>
          <a:xfrm>
            <a:off x="6537960" y="2560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Estados y CA</a:t>
            </a:r>
            <a:endParaRPr lang="en-US" sz="1500" dirty="0"/>
          </a:p>
        </p:txBody>
      </p:sp>
      <p:sp>
        <p:nvSpPr>
          <p:cNvPr id="42" name="Paquete texto 3"/>
          <p:cNvSpPr txBox="1"/>
          <p:nvPr/>
        </p:nvSpPr>
        <p:spPr>
          <a:xfrm>
            <a:off x="6035040" y="303580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Los 51 estados, cada uno una columna de 1/0. CA (California) por sí sola recoge casi todo el efecto de los estados: con 7 variables, R² 0,785; con 87, 0,789.</a:t>
            </a:r>
            <a:endParaRPr lang="en-US" sz="1150" dirty="0"/>
          </a:p>
        </p:txBody>
      </p:sp>
      <p:sp>
        <p:nvSpPr>
          <p:cNvPr id="43" name="Conclusión variables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57 variables rinden igual que 87: se elige la versión más simple que encaja con la app.</a:t>
            </a:r>
            <a:endParaRPr lang="en-US" sz="14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3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Todas las combinaciones probadas</a:t>
            </a:r>
            <a:endParaRPr lang="en-US" sz="2800" dirty="0"/>
          </a:p>
        </p:txBody>
      </p:sp>
      <p:graphicFrame>
        <p:nvGraphicFramePr>
          <p:cNvPr id="7" name="Tabla combinacion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37134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en el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+ 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+ serv.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+ CA + serv.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+ estados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+ serv. + estados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 + estados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 de decisión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Leyenda tabla"/>
          <p:cNvSpPr txBox="1"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5 = superficie, dormitorios, latitud, longitud y perros · CA = California · serv. = número de servicios · entre paréntesis, número de variables</a:t>
            </a:r>
            <a:endParaRPr lang="en-US" sz="1000" dirty="0"/>
          </a:p>
        </p:txBody>
      </p:sp>
      <p:sp>
        <p:nvSpPr>
          <p:cNvPr id="5" name="Conclusión tabla"/>
          <p:cNvSpPr txBox="1"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Random Forest es el mejor en 6 de las 7 configuraciones. </a:t>
            </a:r>
            <a:r>
              <a:rPr lang="en-US" sz="1300" dirty="0">
                <a:solidFill>
                  <a:schemeClr val="tx2"/>
                </a:solidFill>
              </a:rPr>
              <a:t>Entre configuraciones la diferencia es mínima (0,779–0,789): se elige la de 57 variables, misma precisión y encaja con la app.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3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Los modelos: una eliminatoria</a:t>
            </a:r>
            <a:endParaRPr lang="en-US" sz="2800" dirty="0"/>
          </a:p>
        </p:txBody>
      </p:sp>
      <p:sp>
        <p:nvSpPr>
          <p:cNvPr id="3" name="Ronda 1"/>
          <p:cNvSpPr/>
          <p:nvPr/>
        </p:nvSpPr>
        <p:spPr>
          <a:xfrm>
            <a:off x="457200" y="960120"/>
            <a:ext cx="1874520" cy="960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" name="Ronda título 1"/>
          <p:cNvSpPr txBox="1"/>
          <p:nvPr/>
        </p:nvSpPr>
        <p:spPr>
          <a:xfrm>
            <a:off x="566928" y="1005840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Regresión lineal</a:t>
            </a:r>
            <a:endParaRPr lang="en-US" sz="1200" dirty="0"/>
          </a:p>
        </p:txBody>
      </p:sp>
      <p:sp>
        <p:nvSpPr>
          <p:cNvPr id="5" name="Ronda valor 1"/>
          <p:cNvSpPr txBox="1"/>
          <p:nvPr/>
        </p:nvSpPr>
        <p:spPr>
          <a:xfrm>
            <a:off x="566928" y="1252728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0,544</a:t>
            </a:r>
            <a:endParaRPr lang="en-US" sz="1500" dirty="0"/>
          </a:p>
        </p:txBody>
      </p:sp>
      <p:sp>
        <p:nvSpPr>
          <p:cNvPr id="6" name="Ronda texto 1"/>
          <p:cNvSpPr txBox="1"/>
          <p:nvPr/>
        </p:nvSpPr>
        <p:spPr>
          <a:xfrm>
            <a:off x="566928" y="1545336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accent4"/>
                </a:solidFill>
              </a:rPr>
              <a:t>Supone que todo es lineal: eliminada</a:t>
            </a:r>
            <a:endParaRPr lang="en-US" sz="950" dirty="0"/>
          </a:p>
        </p:txBody>
      </p:sp>
      <p:sp>
        <p:nvSpPr>
          <p:cNvPr id="7" name="Ronda flecha 1"/>
          <p:cNvSpPr txBox="1"/>
          <p:nvPr/>
        </p:nvSpPr>
        <p:spPr>
          <a:xfrm>
            <a:off x="2331720" y="1234440"/>
            <a:ext cx="2441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Ronda 2"/>
          <p:cNvSpPr/>
          <p:nvPr/>
        </p:nvSpPr>
        <p:spPr>
          <a:xfrm>
            <a:off x="2575865" y="960120"/>
            <a:ext cx="1874520" cy="960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Ronda título 2"/>
          <p:cNvSpPr txBox="1"/>
          <p:nvPr/>
        </p:nvSpPr>
        <p:spPr>
          <a:xfrm>
            <a:off x="2685593" y="1005840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Árbol de decisión</a:t>
            </a:r>
            <a:endParaRPr lang="en-US" sz="1200" dirty="0"/>
          </a:p>
        </p:txBody>
      </p:sp>
      <p:sp>
        <p:nvSpPr>
          <p:cNvPr id="10" name="Ronda valor 2"/>
          <p:cNvSpPr txBox="1"/>
          <p:nvPr/>
        </p:nvSpPr>
        <p:spPr>
          <a:xfrm>
            <a:off x="2685593" y="1252728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0,668</a:t>
            </a:r>
            <a:endParaRPr lang="en-US" sz="1500" dirty="0"/>
          </a:p>
        </p:txBody>
      </p:sp>
      <p:sp>
        <p:nvSpPr>
          <p:cNvPr id="11" name="Ronda texto 2"/>
          <p:cNvSpPr txBox="1"/>
          <p:nvPr/>
        </p:nvSpPr>
        <p:spPr>
          <a:xfrm>
            <a:off x="2685593" y="1545336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accent4"/>
                </a:solidFill>
              </a:rPr>
              <a:t>Aprende reglas, pero memoriza</a:t>
            </a:r>
            <a:endParaRPr lang="en-US" sz="950" dirty="0"/>
          </a:p>
        </p:txBody>
      </p:sp>
      <p:sp>
        <p:nvSpPr>
          <p:cNvPr id="12" name="Ronda flecha 2"/>
          <p:cNvSpPr txBox="1"/>
          <p:nvPr/>
        </p:nvSpPr>
        <p:spPr>
          <a:xfrm>
            <a:off x="4450385" y="1234440"/>
            <a:ext cx="2441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Ronda 3"/>
          <p:cNvSpPr/>
          <p:nvPr/>
        </p:nvSpPr>
        <p:spPr>
          <a:xfrm>
            <a:off x="4694530" y="960120"/>
            <a:ext cx="1874520" cy="960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Ronda título 3"/>
          <p:cNvSpPr txBox="1"/>
          <p:nvPr/>
        </p:nvSpPr>
        <p:spPr>
          <a:xfrm>
            <a:off x="4804258" y="1005840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Ensemble</a:t>
            </a:r>
            <a:endParaRPr lang="en-US" sz="1200" dirty="0"/>
          </a:p>
        </p:txBody>
      </p:sp>
      <p:sp>
        <p:nvSpPr>
          <p:cNvPr id="15" name="Ronda valor 3"/>
          <p:cNvSpPr txBox="1"/>
          <p:nvPr/>
        </p:nvSpPr>
        <p:spPr>
          <a:xfrm>
            <a:off x="4804258" y="1252728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0,770–0,789</a:t>
            </a:r>
            <a:endParaRPr lang="en-US" sz="1500" dirty="0"/>
          </a:p>
        </p:txBody>
      </p:sp>
      <p:sp>
        <p:nvSpPr>
          <p:cNvPr id="16" name="Ronda texto 3"/>
          <p:cNvSpPr txBox="1"/>
          <p:nvPr/>
        </p:nvSpPr>
        <p:spPr>
          <a:xfrm>
            <a:off x="4804258" y="1545336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accent4"/>
                </a:solidFill>
              </a:rPr>
              <a:t>Cientos de árboles: el gran salto</a:t>
            </a:r>
            <a:endParaRPr lang="en-US" sz="950" dirty="0"/>
          </a:p>
        </p:txBody>
      </p:sp>
      <p:sp>
        <p:nvSpPr>
          <p:cNvPr id="17" name="Ronda flecha 3"/>
          <p:cNvSpPr txBox="1"/>
          <p:nvPr/>
        </p:nvSpPr>
        <p:spPr>
          <a:xfrm>
            <a:off x="6569050" y="1234440"/>
            <a:ext cx="2441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Ronda 4"/>
          <p:cNvSpPr/>
          <p:nvPr/>
        </p:nvSpPr>
        <p:spPr>
          <a:xfrm>
            <a:off x="6813194" y="960120"/>
            <a:ext cx="1874520" cy="96012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9" name="Ronda título 4"/>
          <p:cNvSpPr txBox="1"/>
          <p:nvPr/>
        </p:nvSpPr>
        <p:spPr>
          <a:xfrm>
            <a:off x="6922922" y="1005840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Final</a:t>
            </a:r>
            <a:endParaRPr lang="en-US" sz="1200" dirty="0"/>
          </a:p>
        </p:txBody>
      </p:sp>
      <p:sp>
        <p:nvSpPr>
          <p:cNvPr id="20" name="Ronda valor 4"/>
          <p:cNvSpPr txBox="1"/>
          <p:nvPr/>
        </p:nvSpPr>
        <p:spPr>
          <a:xfrm>
            <a:off x="6922922" y="1252728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 finalistas</a:t>
            </a:r>
            <a:endParaRPr lang="en-US" sz="1500" dirty="0"/>
          </a:p>
        </p:txBody>
      </p:sp>
      <p:sp>
        <p:nvSpPr>
          <p:cNvPr id="21" name="Ronda texto 4"/>
          <p:cNvSpPr txBox="1"/>
          <p:nvPr/>
        </p:nvSpPr>
        <p:spPr>
          <a:xfrm>
            <a:off x="6922922" y="1545336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accent3"/>
                </a:solidFill>
              </a:rPr>
              <a:t>Random Forest y AdaBoost</a:t>
            </a:r>
            <a:endParaRPr lang="en-US" sz="950" dirty="0"/>
          </a:p>
        </p:txBody>
      </p:sp>
      <p:sp>
        <p:nvSpPr>
          <p:cNvPr id="22" name="Final subtítulo"/>
          <p:cNvSpPr txBox="1"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La final: los dos finalistas optimizados</a:t>
            </a:r>
            <a:endParaRPr lang="en-US" sz="1300" dirty="0"/>
          </a:p>
        </p:txBody>
      </p:sp>
      <p:graphicFrame>
        <p:nvGraphicFramePr>
          <p:cNvPr id="23" name="Tabla finalist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04288"/>
          <a:ext cx="8229600" cy="14630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validación cruzada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($/m²)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($/m²)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Leyenda métricas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R²: parte de la variación del precio que explica el modelo (1 = perfecto) · MAE: error medio en $/m² · RMSE: como el MAE, pero castiga más los errores grandes. En terracota, el mejor de cada columna.</a:t>
            </a:r>
            <a:endParaRPr lang="en-US" sz="1000" dirty="0"/>
          </a:p>
        </p:txBody>
      </p:sp>
      <p:sp>
        <p:nvSpPr>
          <p:cNvPr id="25" name="Conclusión finalistas"/>
          <p:cNvSpPr txBox="1"/>
          <p:nvPr/>
        </p:nvSpPr>
        <p:spPr>
          <a:xfrm>
            <a:off x="457200" y="4279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Empate técnico. </a:t>
            </a:r>
            <a:r>
              <a:rPr lang="en-US" sz="1300" dirty="0">
                <a:solidFill>
                  <a:schemeClr val="tx2"/>
                </a:solidFill>
              </a:rPr>
              <a:t>Gana Random Forest con Random Search: mejor validación cruzada, mejor R² y menor RMSE.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3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Los hiperparámetros del modelo final</a:t>
            </a:r>
            <a:endParaRPr lang="en-US" sz="2800" dirty="0"/>
          </a:p>
        </p:txBody>
      </p:sp>
      <p:graphicFrame>
        <p:nvGraphicFramePr>
          <p:cNvPr id="9" name="Tabla hiperparámetr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937760" cy="27432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eligió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 = 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de árboles. Más árboles, predicción más estable.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Grid: 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Random: 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 = 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Cuántas preguntas seguidas puede hacer cada árbol.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Grid: sin límite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Random: 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max_leaf_nodes = 2866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Máximo de grupos finales por árbol. Frena la memorización.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Grid: 1000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Random: 2866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min_samples_leaf =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de viviendas por grupo final. Evita grupos de una sola vivienda.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en Random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max_features = 0,6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que mira cada árbol en cada pregunta.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en Random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Búsqueda 1"/>
          <p:cNvSpPr/>
          <p:nvPr/>
        </p:nvSpPr>
        <p:spPr>
          <a:xfrm>
            <a:off x="457200" y="3931920"/>
            <a:ext cx="397764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Búsqueda título 1"/>
          <p:cNvSpPr txBox="1"/>
          <p:nvPr/>
        </p:nvSpPr>
        <p:spPr>
          <a:xfrm>
            <a:off x="594360" y="39684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Grid Search</a:t>
            </a:r>
            <a:endParaRPr lang="en-US" sz="1200" dirty="0"/>
          </a:p>
        </p:txBody>
      </p:sp>
      <p:sp>
        <p:nvSpPr>
          <p:cNvPr id="6" name="Búsqueda detalle 1"/>
          <p:cNvSpPr txBox="1"/>
          <p:nvPr/>
        </p:nvSpPr>
        <p:spPr>
          <a:xfrm>
            <a:off x="594360" y="4206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</a:rPr>
              <a:t>3 parámetros · las 125 combinaciones · R² medio en CV: 0,780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</a:rPr>
              <a:t>625 FITS</a:t>
            </a:r>
            <a:endParaRPr lang="en-US" sz="1050" dirty="0"/>
          </a:p>
        </p:txBody>
      </p:sp>
      <p:sp>
        <p:nvSpPr>
          <p:cNvPr id="7" name="Búsqueda 2"/>
          <p:cNvSpPr/>
          <p:nvPr/>
        </p:nvSpPr>
        <p:spPr>
          <a:xfrm>
            <a:off x="4709160" y="3931920"/>
            <a:ext cx="3977640" cy="658368"/>
          </a:xfrm>
          <a:prstGeom prst="roundRect">
            <a:avLst>
              <a:gd name="adj" fmla="val 8333"/>
            </a:avLst>
          </a:prstGeom>
          <a:solidFill>
            <a:schemeClr val="accent5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Búsqueda título 2"/>
          <p:cNvSpPr txBox="1"/>
          <p:nvPr/>
        </p:nvSpPr>
        <p:spPr>
          <a:xfrm>
            <a:off x="4846320" y="39684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Random Search</a:t>
            </a:r>
            <a:endParaRPr lang="en-US" sz="1200" dirty="0"/>
          </a:p>
        </p:txBody>
      </p:sp>
      <p:sp>
        <p:nvSpPr>
          <p:cNvPr id="3" name="Búsqueda detalle 2"/>
          <p:cNvSpPr txBox="1"/>
          <p:nvPr/>
        </p:nvSpPr>
        <p:spPr>
          <a:xfrm>
            <a:off x="4846320" y="4206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</a:rPr>
              <a:t>5 parámetros · 200 combinaciones al azar · R² medio en CV: 0,788 · 1000 FITS</a:t>
            </a:r>
            <a:endParaRPr lang="en-US" sz="1050" dirty="0"/>
          </a:p>
        </p:txBody>
      </p:sp>
      <p:sp>
        <p:nvSpPr>
          <p:cNvPr id="10" name="Flecha búsqueda"/>
          <p:cNvSpPr txBox="1"/>
          <p:nvPr/>
        </p:nvSpPr>
        <p:spPr>
          <a:xfrm>
            <a:off x="4434840" y="40507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Parámetro clave"/>
          <p:cNvSpPr/>
          <p:nvPr/>
        </p:nvSpPr>
        <p:spPr>
          <a:xfrm>
            <a:off x="5623560" y="1005840"/>
            <a:ext cx="3063240" cy="2724912"/>
          </a:xfrm>
          <a:prstGeom prst="roundRect">
            <a:avLst>
              <a:gd name="adj" fmla="val 2013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2" name="Clave etiqueta"/>
          <p:cNvSpPr txBox="1"/>
          <p:nvPr/>
        </p:nvSpPr>
        <p:spPr>
          <a:xfrm>
            <a:off x="585216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3"/>
                </a:solidFill>
              </a:rPr>
              <a:t>EL PARÁMETRO CLAVE</a:t>
            </a:r>
            <a:endParaRPr lang="en-US" sz="1100" dirty="0"/>
          </a:p>
        </p:txBody>
      </p:sp>
      <p:sp>
        <p:nvSpPr>
          <p:cNvPr id="13" name="Clave valor"/>
          <p:cNvSpPr txBox="1"/>
          <p:nvPr/>
        </p:nvSpPr>
        <p:spPr>
          <a:xfrm>
            <a:off x="585216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max_features = 60%</a:t>
            </a:r>
            <a:endParaRPr lang="en-US" sz="2400" dirty="0"/>
          </a:p>
        </p:txBody>
      </p:sp>
      <p:sp>
        <p:nvSpPr>
          <p:cNvPr id="14" name="Clave texto"/>
          <p:cNvSpPr txBox="1"/>
          <p:nvPr/>
        </p:nvSpPr>
        <p:spPr>
          <a:xfrm>
            <a:off x="5852160" y="21945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Cada árbol solo mira el 60% de las variables en cada decisión. Los árboles son más distintos entre sí y sus errores se compensan. Fue el valor óptimo en los dos modelos.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3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Resultados</a:t>
            </a:r>
            <a:endParaRPr lang="en-US" sz="2800" dirty="0"/>
          </a:p>
        </p:txBody>
      </p:sp>
      <p:sp>
        <p:nvSpPr>
          <p:cNvPr id="3" name="Cifra resultado 1"/>
          <p:cNvSpPr txBox="1"/>
          <p:nvPr/>
        </p:nvSpPr>
        <p:spPr>
          <a:xfrm>
            <a:off x="457200" y="1051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0,794</a:t>
            </a:r>
            <a:endParaRPr lang="en-US" sz="3600" dirty="0"/>
          </a:p>
        </p:txBody>
      </p:sp>
      <p:sp>
        <p:nvSpPr>
          <p:cNvPr id="4" name="Etiqueta resultado 1"/>
          <p:cNvSpPr txBox="1"/>
          <p:nvPr/>
        </p:nvSpPr>
        <p:spPr>
          <a:xfrm>
            <a:off x="457200" y="165506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R²: explica el 79% de la variación del precio</a:t>
            </a:r>
            <a:endParaRPr lang="en-US" sz="1300" dirty="0"/>
          </a:p>
        </p:txBody>
      </p:sp>
      <p:sp>
        <p:nvSpPr>
          <p:cNvPr id="5" name="Cifra resultado 2"/>
          <p:cNvSpPr txBox="1"/>
          <p:nvPr/>
        </p:nvSpPr>
        <p:spPr>
          <a:xfrm>
            <a:off x="457200" y="22219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3,03 $/m²</a:t>
            </a:r>
            <a:endParaRPr lang="en-US" sz="3600" dirty="0"/>
          </a:p>
        </p:txBody>
      </p:sp>
      <p:sp>
        <p:nvSpPr>
          <p:cNvPr id="6" name="Etiqueta resultado 2"/>
          <p:cNvSpPr txBox="1"/>
          <p:nvPr/>
        </p:nvSpPr>
        <p:spPr>
          <a:xfrm>
            <a:off x="457200" y="282549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error medio del modelo final</a:t>
            </a:r>
            <a:endParaRPr lang="en-US" sz="1300" dirty="0"/>
          </a:p>
        </p:txBody>
      </p:sp>
      <p:sp>
        <p:nvSpPr>
          <p:cNvPr id="7" name="Cifra resultado 3"/>
          <p:cNvSpPr txBox="1"/>
          <p:nvPr/>
        </p:nvSpPr>
        <p:spPr>
          <a:xfrm>
            <a:off x="457200" y="339242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≈ 227 $/mes</a:t>
            </a:r>
            <a:endParaRPr lang="en-US" sz="3600" dirty="0"/>
          </a:p>
        </p:txBody>
      </p:sp>
      <p:sp>
        <p:nvSpPr>
          <p:cNvPr id="8" name="Etiqueta resultado 3"/>
          <p:cNvSpPr txBox="1"/>
          <p:nvPr/>
        </p:nvSpPr>
        <p:spPr>
          <a:xfrm>
            <a:off x="457200" y="3995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de error medio en un piso de 75 m²</a:t>
            </a:r>
            <a:endParaRPr lang="en-US" sz="1300" dirty="0"/>
          </a:p>
        </p:txBody>
      </p:sp>
      <p:graphicFrame>
        <p:nvGraphicFramePr>
          <p:cNvPr id="9" name="Gráfico evolución"/>
          <p:cNvGraphicFramePr/>
          <p:nvPr/>
        </p:nvGraphicFramePr>
        <p:xfrm>
          <a:off x="3749040" y="96012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Nota generaliza"/>
          <p:cNvSpPr txBox="1"/>
          <p:nvPr/>
        </p:nvSpPr>
        <p:spPr>
          <a:xfrm>
            <a:off x="384048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Validación cruzada (0,788) y test (0,794) coherentes: el modelo no memoriza, generaliza.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3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Hallazgos: qué decide el precio y dónde está el límite</a:t>
            </a:r>
            <a:endParaRPr lang="en-US" sz="2800" dirty="0"/>
          </a:p>
        </p:txBody>
      </p:sp>
      <p:sp>
        <p:nvSpPr>
          <p:cNvPr id="3" name="Subtítulo importancia"/>
          <p:cNvSpPr txBox="1"/>
          <p:nvPr/>
        </p:nvSpPr>
        <p:spPr>
          <a:xfrm>
            <a:off x="457200" y="1005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¿Qué decide el precio? Importancia en el modelo final (%)</a:t>
            </a:r>
            <a:endParaRPr lang="en-US" sz="1400" dirty="0"/>
          </a:p>
        </p:txBody>
      </p:sp>
      <p:graphicFrame>
        <p:nvGraphicFramePr>
          <p:cNvPr id="4" name="Gráfico importancia"/>
          <p:cNvGraphicFramePr/>
          <p:nvPr/>
        </p:nvGraphicFramePr>
        <p:xfrm>
          <a:off x="365760" y="1325880"/>
          <a:ext cx="484632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nclusión importancia"/>
          <p:cNvSpPr txBox="1"/>
          <p:nvPr/>
        </p:nvSpPr>
        <p:spPr>
          <a:xfrm>
            <a:off x="457200" y="40690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Dónde está y cuánto mide explican el 93% de las decisiones del modelo.</a:t>
            </a:r>
            <a:endParaRPr lang="en-US" sz="1400" dirty="0"/>
          </a:p>
        </p:txBody>
      </p:sp>
      <p:sp>
        <p:nvSpPr>
          <p:cNvPr id="6" name="Techo"/>
          <p:cNvSpPr/>
          <p:nvPr/>
        </p:nvSpPr>
        <p:spPr>
          <a:xfrm>
            <a:off x="5532120" y="1051560"/>
            <a:ext cx="3154680" cy="3520440"/>
          </a:xfrm>
          <a:prstGeom prst="roundRect">
            <a:avLst>
              <a:gd name="adj" fmla="val 1739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Techo título"/>
          <p:cNvSpPr txBox="1"/>
          <p:nvPr/>
        </p:nvSpPr>
        <p:spPr>
          <a:xfrm>
            <a:off x="576072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El modelo ha llegado a su techo</a:t>
            </a:r>
            <a:endParaRPr lang="en-US" sz="1700" dirty="0"/>
          </a:p>
        </p:txBody>
      </p:sp>
      <p:sp>
        <p:nvSpPr>
          <p:cNvPr id="8" name="Techo RF"/>
          <p:cNvSpPr txBox="1"/>
          <p:nvPr/>
        </p:nvSpPr>
        <p:spPr>
          <a:xfrm>
            <a:off x="5760720" y="19202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0,794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9" name="Techo Ada"/>
          <p:cNvSpPr txBox="1"/>
          <p:nvPr/>
        </p:nvSpPr>
        <p:spPr>
          <a:xfrm>
            <a:off x="7178040" y="19202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0,789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AdaBoost</a:t>
            </a:r>
            <a:endParaRPr lang="en-US" sz="1400" dirty="0"/>
          </a:p>
        </p:txBody>
      </p:sp>
      <p:sp>
        <p:nvSpPr>
          <p:cNvPr id="10" name="Techo texto"/>
          <p:cNvSpPr txBox="1"/>
          <p:nvPr/>
        </p:nvSpPr>
        <p:spPr>
          <a:xfrm>
            <a:off x="5760720" y="29718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Dos algoritmos distintos, optimizados con el mismo proceso, llegan al mismo punto. El límite no está en el modelo, sino en la información de los datos.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3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Prueba con datos nuevos</a:t>
            </a:r>
            <a:endParaRPr lang="en-US" sz="2800" dirty="0"/>
          </a:p>
        </p:txBody>
      </p:sp>
      <p:sp>
        <p:nvSpPr>
          <p:cNvPr id="3" name="Reto"/>
          <p:cNvSpPr txBox="1"/>
          <p:nvPr/>
        </p:nvSpPr>
        <p:spPr>
          <a:xfrm>
            <a:off x="457200" y="10058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88.913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anuncios que el modelo nunca había visto, sin reentrenarlo</a:t>
            </a:r>
            <a:endParaRPr lang="en-US" sz="1400" dirty="0"/>
          </a:p>
        </p:txBody>
      </p:sp>
      <p:sp>
        <p:nvSpPr>
          <p:cNvPr id="4" name="Prueba limpia título"/>
          <p:cNvSpPr txBox="1"/>
          <p:nvPr/>
        </p:nvSpPr>
        <p:spPr>
          <a:xfrm>
            <a:off x="457200" y="2194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Una prueba limpia</a:t>
            </a:r>
            <a:endParaRPr lang="en-US" sz="1400" dirty="0"/>
          </a:p>
        </p:txBody>
      </p:sp>
      <p:sp>
        <p:nvSpPr>
          <p:cNvPr id="5" name="Prueba limpia"/>
          <p:cNvSpPr txBox="1"/>
          <p:nvPr/>
        </p:nvSpPr>
        <p:spPr>
          <a:xfrm>
            <a:off x="457200" y="251460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Se eliminaron los 9.983 anuncios que ya estaban en el entrenamiento, para no inflar el resultado.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El modelo solo recibió las características. El precio real se ocultó y se usó después, para corregir, como en un examen.</a:t>
            </a:r>
            <a:endParaRPr lang="en-US" sz="1200" dirty="0"/>
          </a:p>
        </p:txBody>
      </p:sp>
      <p:sp>
        <p:nvSpPr>
          <p:cNvPr id="6" name="Error nuevo"/>
          <p:cNvSpPr txBox="1"/>
          <p:nvPr/>
        </p:nvSpPr>
        <p:spPr>
          <a:xfrm>
            <a:off x="457200" y="3840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Error medio:  </a:t>
            </a:r>
            <a:r>
              <a:rPr lang="en-US" sz="1400" b="1" dirty="0">
                <a:solidFill>
                  <a:schemeClr val="tx2"/>
                </a:solidFill>
              </a:rPr>
              <a:t>227 → 247 $/mes</a:t>
            </a:r>
            <a:endParaRPr lang="en-US" sz="1400" dirty="0"/>
          </a:p>
        </p:txBody>
      </p:sp>
      <p:graphicFrame>
        <p:nvGraphicFramePr>
          <p:cNvPr id="7" name="Gráfico ciudades"/>
          <p:cNvGraphicFramePr/>
          <p:nvPr/>
        </p:nvGraphicFramePr>
        <p:xfrm>
          <a:off x="4480560" y="914400"/>
          <a:ext cx="429768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Leyenda ciudades"/>
          <p:cNvSpPr txBox="1"/>
          <p:nvPr/>
        </p:nvSpPr>
        <p:spPr>
          <a:xfrm>
            <a:off x="4526280" y="34290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</a:rPr>
              <a:t>Nunca vista: </a:t>
            </a:r>
            <a:r>
              <a:rPr lang="en-US" sz="1050" dirty="0">
                <a:solidFill>
                  <a:schemeClr val="accent4"/>
                </a:solidFill>
              </a:rPr>
              <a:t>ciudad sin ningún anuncio en el entrenamiento.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chemeClr val="tx2"/>
                </a:solidFill>
              </a:rPr>
              <a:t>1–4, 5–19, 20 o más: </a:t>
            </a:r>
            <a:r>
              <a:rPr lang="en-US" sz="1050" dirty="0">
                <a:solidFill>
                  <a:schemeClr val="accent4"/>
                </a:solidFill>
              </a:rPr>
              <a:t>anuncios de esa ciudad con los que aprendió el modelo.</a:t>
            </a:r>
            <a:endParaRPr lang="en-US" sz="1050" dirty="0"/>
          </a:p>
        </p:txBody>
      </p:sp>
      <p:sp>
        <p:nvSpPr>
          <p:cNvPr id="9" name="Conclusión barrio"/>
          <p:cNvSpPr/>
          <p:nvPr/>
        </p:nvSpPr>
        <p:spPr>
          <a:xfrm>
            <a:off x="4526280" y="3959352"/>
            <a:ext cx="416052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Conclusión barrio texto"/>
          <p:cNvSpPr txBox="1"/>
          <p:nvPr/>
        </p:nvSpPr>
        <p:spPr>
          <a:xfrm>
            <a:off x="4663440" y="398678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Cuanto mejor conoce la ciudad, mejor predice. En las grandes ciudades, el precio depende del barrio.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3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Test frente a datos nuevos</a:t>
            </a:r>
            <a:endParaRPr lang="en-US" sz="2800" dirty="0"/>
          </a:p>
        </p:txBody>
      </p:sp>
      <p:graphicFrame>
        <p:nvGraphicFramePr>
          <p:cNvPr id="13" name="Tabla test vs nuev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6459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Anuncios evaluados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($/m²)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($/m²)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medio en un piso de 75 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(20% del dataset de 10.000)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227 $/mes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nuevos (dataset de 100.000)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247 $/mes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+0,26 (+9%)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+0,23 (+5%)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+20 $/mes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Nota 75"/>
          <p:cNvSpPr txBox="1"/>
          <p:nvPr/>
        </p:nvSpPr>
        <p:spPr>
          <a:xfrm>
            <a:off x="457200" y="2670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Nota: 75 m² es la mediana de superficie de los anuncios (el piso típico). Error al mes = MAE × 75 m²; por ejemplo, 3,03 × 75 ≈ 227 $/mes.</a:t>
            </a:r>
            <a:endParaRPr lang="en-US" sz="1000" dirty="0"/>
          </a:p>
        </p:txBody>
      </p:sp>
      <p:sp>
        <p:nvSpPr>
          <p:cNvPr id="5" name="Conclusión final"/>
          <p:cNvSpPr/>
          <p:nvPr/>
        </p:nvSpPr>
        <p:spPr>
          <a:xfrm>
            <a:off x="457200" y="3063240"/>
            <a:ext cx="8229600" cy="155448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Conclusión final etiqueta"/>
          <p:cNvSpPr txBox="1"/>
          <p:nvPr/>
        </p:nvSpPr>
        <p:spPr>
          <a:xfrm>
            <a:off x="685800" y="3182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3"/>
                </a:solidFill>
              </a:rPr>
              <a:t>CONCLUSIÓN FINAL</a:t>
            </a:r>
            <a:endParaRPr lang="en-US" sz="1100" dirty="0"/>
          </a:p>
        </p:txBody>
      </p:sp>
      <p:sp>
        <p:nvSpPr>
          <p:cNvPr id="7" name="Conclusión final título"/>
          <p:cNvSpPr txBox="1"/>
          <p:nvPr/>
        </p:nvSpPr>
        <p:spPr>
          <a:xfrm>
            <a:off x="685800" y="343814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El modelo generaliza: funciona con datos que nunca había visto</a:t>
            </a:r>
            <a:endParaRPr lang="en-US" sz="1800" dirty="0"/>
          </a:p>
        </p:txBody>
      </p:sp>
      <p:sp>
        <p:nvSpPr>
          <p:cNvPr id="8" name="Conclusión final texto"/>
          <p:cNvSpPr txBox="1"/>
          <p:nvPr/>
        </p:nvSpPr>
        <p:spPr>
          <a:xfrm>
            <a:off x="685800" y="38221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Con 88.913 anuncios nuevos, 45 veces más que el test y sin reentrenarlo, el error medio solo sube un 9%: unos 20 $/mes en un piso típico. El R² baja porque aparecen ciudades que el modelo no conocía, no porque haya memorizado. Es una herramienta fiable para estimar alquileres allí donde tiene datos.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3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Limitaciones</a:t>
            </a:r>
            <a:endParaRPr lang="en-US" sz="2800" dirty="0"/>
          </a:p>
        </p:txBody>
      </p:sp>
      <p:sp>
        <p:nvSpPr>
          <p:cNvPr id="3" name="Limitación 1"/>
          <p:cNvSpPr/>
          <p:nvPr/>
        </p:nvSpPr>
        <p:spPr>
          <a:xfrm>
            <a:off x="457200" y="1097280"/>
            <a:ext cx="4023360" cy="13716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" name="Limitación 1 círculo"/>
          <p:cNvSpPr/>
          <p:nvPr/>
        </p:nvSpPr>
        <p:spPr>
          <a:xfrm>
            <a:off x="685800" y="1325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Limitación 1 número"/>
          <p:cNvSpPr txBox="1"/>
          <p:nvPr/>
        </p:nvSpPr>
        <p:spPr>
          <a:xfrm>
            <a:off x="6858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Limitación título 1"/>
          <p:cNvSpPr txBox="1"/>
          <p:nvPr/>
        </p:nvSpPr>
        <p:spPr>
          <a:xfrm>
            <a:off x="1188720" y="13258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Datos de 2019</a:t>
            </a:r>
            <a:endParaRPr lang="en-US" sz="1600" dirty="0"/>
          </a:p>
        </p:txBody>
      </p:sp>
      <p:sp>
        <p:nvSpPr>
          <p:cNvPr id="7" name="Limitación texto 1"/>
          <p:cNvSpPr txBox="1"/>
          <p:nvPr/>
        </p:nvSpPr>
        <p:spPr>
          <a:xfrm>
            <a:off x="1188720" y="17556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Previos a la pandemia: refleja precios de ese momento.</a:t>
            </a:r>
            <a:endParaRPr lang="en-US" sz="1300" dirty="0"/>
          </a:p>
        </p:txBody>
      </p:sp>
      <p:sp>
        <p:nvSpPr>
          <p:cNvPr id="8" name="Limitación 2"/>
          <p:cNvSpPr/>
          <p:nvPr/>
        </p:nvSpPr>
        <p:spPr>
          <a:xfrm>
            <a:off x="4663440" y="1097280"/>
            <a:ext cx="4023360" cy="13716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Limitación 2 círculo"/>
          <p:cNvSpPr/>
          <p:nvPr/>
        </p:nvSpPr>
        <p:spPr>
          <a:xfrm>
            <a:off x="4892040" y="1325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Limitación 2 número"/>
          <p:cNvSpPr txBox="1"/>
          <p:nvPr/>
        </p:nvSpPr>
        <p:spPr>
          <a:xfrm>
            <a:off x="48920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Limitación título 2"/>
          <p:cNvSpPr txBox="1"/>
          <p:nvPr/>
        </p:nvSpPr>
        <p:spPr>
          <a:xfrm>
            <a:off x="5394960" y="13258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Distribución desigual</a:t>
            </a:r>
            <a:endParaRPr lang="en-US" sz="1600" dirty="0"/>
          </a:p>
        </p:txBody>
      </p:sp>
      <p:sp>
        <p:nvSpPr>
          <p:cNvPr id="12" name="Limitación texto 2"/>
          <p:cNvSpPr txBox="1"/>
          <p:nvPr/>
        </p:nvSpPr>
        <p:spPr>
          <a:xfrm>
            <a:off x="5394960" y="17556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Texas y California concentran una cuarta parte de los anuncios.</a:t>
            </a:r>
            <a:endParaRPr lang="en-US" sz="1300" dirty="0"/>
          </a:p>
        </p:txBody>
      </p:sp>
      <p:sp>
        <p:nvSpPr>
          <p:cNvPr id="13" name="Limitación 3"/>
          <p:cNvSpPr/>
          <p:nvPr/>
        </p:nvSpPr>
        <p:spPr>
          <a:xfrm>
            <a:off x="457200" y="2697480"/>
            <a:ext cx="4023360" cy="13716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Limitación 3 círculo"/>
          <p:cNvSpPr/>
          <p:nvPr/>
        </p:nvSpPr>
        <p:spPr>
          <a:xfrm>
            <a:off x="685800" y="2926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Limitación 3 número"/>
          <p:cNvSpPr txBox="1"/>
          <p:nvPr/>
        </p:nvSpPr>
        <p:spPr>
          <a:xfrm>
            <a:off x="6858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Limitación título 3"/>
          <p:cNvSpPr txBox="1"/>
          <p:nvPr/>
        </p:nvSpPr>
        <p:spPr>
          <a:xfrm>
            <a:off x="1188720" y="29260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Viviendas de lujo</a:t>
            </a:r>
            <a:endParaRPr lang="en-US" sz="1600" dirty="0"/>
          </a:p>
        </p:txBody>
      </p:sp>
      <p:sp>
        <p:nvSpPr>
          <p:cNvPr id="17" name="Limitación texto 3"/>
          <p:cNvSpPr txBox="1"/>
          <p:nvPr/>
        </p:nvSpPr>
        <p:spPr>
          <a:xfrm>
            <a:off x="1188720" y="33558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Son escasas: el modelo comete errores mayores con ellas.</a:t>
            </a:r>
            <a:endParaRPr lang="en-US" sz="1300" dirty="0"/>
          </a:p>
        </p:txBody>
      </p:sp>
      <p:sp>
        <p:nvSpPr>
          <p:cNvPr id="18" name="Limitación 4"/>
          <p:cNvSpPr/>
          <p:nvPr/>
        </p:nvSpPr>
        <p:spPr>
          <a:xfrm>
            <a:off x="4663440" y="2697480"/>
            <a:ext cx="4023360" cy="13716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9" name="Limitación 4 círculo"/>
          <p:cNvSpPr/>
          <p:nvPr/>
        </p:nvSpPr>
        <p:spPr>
          <a:xfrm>
            <a:off x="4892040" y="2926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Limitación 4 número"/>
          <p:cNvSpPr txBox="1"/>
          <p:nvPr/>
        </p:nvSpPr>
        <p:spPr>
          <a:xfrm>
            <a:off x="489204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Limitación título 4"/>
          <p:cNvSpPr txBox="1"/>
          <p:nvPr/>
        </p:nvSpPr>
        <p:spPr>
          <a:xfrm>
            <a:off x="5394960" y="29260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Ajuste no óptimo</a:t>
            </a:r>
            <a:endParaRPr lang="en-US" sz="1600" dirty="0"/>
          </a:p>
        </p:txBody>
      </p:sp>
      <p:sp>
        <p:nvSpPr>
          <p:cNvPr id="22" name="Limitación texto 4"/>
          <p:cNvSpPr txBox="1"/>
          <p:nvPr/>
        </p:nvSpPr>
        <p:spPr>
          <a:xfrm>
            <a:off x="5394960" y="33558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Grid y Random Search dan el mejor de lo probado, no el óptimo.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3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Próximos pasos</a:t>
            </a:r>
            <a:endParaRPr lang="en-US" sz="2800" dirty="0"/>
          </a:p>
        </p:txBody>
      </p:sp>
      <p:sp>
        <p:nvSpPr>
          <p:cNvPr id="3" name="Columna Más y mejores datos"/>
          <p:cNvSpPr/>
          <p:nvPr/>
        </p:nvSpPr>
        <p:spPr>
          <a:xfrm>
            <a:off x="457200" y="1051560"/>
            <a:ext cx="4023360" cy="3520440"/>
          </a:xfrm>
          <a:prstGeom prst="roundRect">
            <a:avLst>
              <a:gd name="adj" fmla="val 1558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" name="Columna título Más y mejores datos"/>
          <p:cNvSpPr txBox="1"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Más y mejores datos</a:t>
            </a:r>
            <a:endParaRPr lang="en-US" sz="1800" dirty="0"/>
          </a:p>
        </p:txBody>
      </p:sp>
      <p:sp>
        <p:nvSpPr>
          <p:cNvPr id="5" name="Columna lista Más y mejores datos"/>
          <p:cNvSpPr txBox="1"/>
          <p:nvPr/>
        </p:nvSpPr>
        <p:spPr>
          <a:xfrm>
            <a:off x="731520" y="178308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Reentrenar con los 100.000 anuncios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Datos actuales, posteriores a la pandemia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Variables urbanas a escala de barrio: distancia al centro, al transporte y a servicios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Analizar los servicios individuales, no solo su número</a:t>
            </a:r>
            <a:endParaRPr lang="en-US" sz="1300" dirty="0"/>
          </a:p>
        </p:txBody>
      </p:sp>
      <p:sp>
        <p:nvSpPr>
          <p:cNvPr id="6" name="Columna Utilización de modelos urbanos"/>
          <p:cNvSpPr/>
          <p:nvPr/>
        </p:nvSpPr>
        <p:spPr>
          <a:xfrm>
            <a:off x="4663440" y="1051560"/>
            <a:ext cx="4023360" cy="3520440"/>
          </a:xfrm>
          <a:prstGeom prst="roundRect">
            <a:avLst>
              <a:gd name="adj" fmla="val 1558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Columna título Utilización de modelos urbanos"/>
          <p:cNvSpPr txBox="1"/>
          <p:nvPr/>
        </p:nvSpPr>
        <p:spPr>
          <a:xfrm>
            <a:off x="493776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Utilización de modelos urbanos</a:t>
            </a:r>
            <a:endParaRPr lang="en-US" sz="1800" dirty="0"/>
          </a:p>
        </p:txBody>
      </p:sp>
      <p:sp>
        <p:nvSpPr>
          <p:cNvPr id="8" name="Columna lista Utilización de modelos urbanos"/>
          <p:cNvSpPr txBox="1"/>
          <p:nvPr/>
        </p:nvSpPr>
        <p:spPr>
          <a:xfrm>
            <a:off x="4937760" y="178308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Econometría espacial: el precio de un piso depende del de sus vecinos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Regresión geográficamente ponderada (GWR): un modelo para cada zona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Validación cruzada espacial: evaluar en mercados que el modelo no conoce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3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Demo en directo</a:t>
            </a:r>
            <a:endParaRPr lang="en-US" sz="2800" dirty="0"/>
          </a:p>
        </p:txBody>
      </p:sp>
      <p:sp>
        <p:nvSpPr>
          <p:cNvPr id="3" name="URL app">
            <a:hlinkClick r:id="rId3"/>
          </p:cNvPr>
          <p:cNvSpPr txBox="1"/>
          <p:nvPr/>
        </p:nvSpPr>
        <p:spPr>
          <a:xfrm>
            <a:off x="457200" y="960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apartment-rent-predictor.streamlit.app</a:t>
            </a:r>
            <a:endParaRPr lang="en-US" sz="1600" dirty="0"/>
          </a:p>
        </p:txBody>
      </p:sp>
      <p:sp>
        <p:nvSpPr>
          <p:cNvPr id="4" name="Demo 1 círculo"/>
          <p:cNvSpPr/>
          <p:nvPr/>
        </p:nvSpPr>
        <p:spPr>
          <a:xfrm>
            <a:off x="457200" y="16002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Demo 1 número"/>
          <p:cNvSpPr txBox="1"/>
          <p:nvPr/>
        </p:nvSpPr>
        <p:spPr>
          <a:xfrm>
            <a:off x="4572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Demo título 1"/>
          <p:cNvSpPr txBox="1"/>
          <p:nvPr/>
        </p:nvSpPr>
        <p:spPr>
          <a:xfrm>
            <a:off x="1005840" y="15819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Estimación</a:t>
            </a:r>
            <a:endParaRPr lang="en-US" sz="1500" dirty="0"/>
          </a:p>
        </p:txBody>
      </p:sp>
      <p:sp>
        <p:nvSpPr>
          <p:cNvPr id="7" name="Demo texto 1"/>
          <p:cNvSpPr txBox="1"/>
          <p:nvPr/>
        </p:nvSpPr>
        <p:spPr>
          <a:xfrm>
            <a:off x="1005840" y="19019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Ciudad, superficie, dormitorios, servicios y perros: precio por m² y alquiler mensual.</a:t>
            </a:r>
            <a:endParaRPr lang="en-US" sz="1200" dirty="0"/>
          </a:p>
        </p:txBody>
      </p:sp>
      <p:sp>
        <p:nvSpPr>
          <p:cNvPr id="8" name="Demo 2 círculo"/>
          <p:cNvSpPr/>
          <p:nvPr/>
        </p:nvSpPr>
        <p:spPr>
          <a:xfrm>
            <a:off x="457200" y="25877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Demo 2 número"/>
          <p:cNvSpPr txBox="1"/>
          <p:nvPr/>
        </p:nvSpPr>
        <p:spPr>
          <a:xfrm>
            <a:off x="45720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Demo título 2"/>
          <p:cNvSpPr txBox="1"/>
          <p:nvPr/>
        </p:nvSpPr>
        <p:spPr>
          <a:xfrm>
            <a:off x="1005840" y="256946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Mapa y avisos</a:t>
            </a:r>
            <a:endParaRPr lang="en-US" sz="1500" dirty="0"/>
          </a:p>
        </p:txBody>
      </p:sp>
      <p:sp>
        <p:nvSpPr>
          <p:cNvPr id="11" name="Demo texto 2"/>
          <p:cNvSpPr txBox="1"/>
          <p:nvPr/>
        </p:nvSpPr>
        <p:spPr>
          <a:xfrm>
            <a:off x="1005840" y="288950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Ubicación de la ciudad y aviso cuando el modelo tiene pocos datos de ella.</a:t>
            </a:r>
            <a:endParaRPr lang="en-US" sz="1200" dirty="0"/>
          </a:p>
        </p:txBody>
      </p:sp>
      <p:sp>
        <p:nvSpPr>
          <p:cNvPr id="12" name="Demo 3 círculo"/>
          <p:cNvSpPr/>
          <p:nvPr/>
        </p:nvSpPr>
        <p:spPr>
          <a:xfrm>
            <a:off x="457200" y="35753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Demo 3 número"/>
          <p:cNvSpPr txBox="1"/>
          <p:nvPr/>
        </p:nvSpPr>
        <p:spPr>
          <a:xfrm>
            <a:off x="45720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Demo título 3"/>
          <p:cNvSpPr txBox="1"/>
          <p:nvPr/>
        </p:nvSpPr>
        <p:spPr>
          <a:xfrm>
            <a:off x="1005840" y="35570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Detector de oportunidades</a:t>
            </a:r>
            <a:endParaRPr lang="en-US" sz="1500" dirty="0"/>
          </a:p>
        </p:txBody>
      </p:sp>
      <p:sp>
        <p:nvSpPr>
          <p:cNvPr id="15" name="Demo texto 3"/>
          <p:cNvSpPr txBox="1"/>
          <p:nvPr/>
        </p:nvSpPr>
        <p:spPr>
          <a:xfrm>
            <a:off x="1005840" y="38770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Sobrevalorado, precio de mercado u oportunidad. El margen es el error medio del modelo.</a:t>
            </a:r>
            <a:endParaRPr lang="en-US" sz="1200" dirty="0"/>
          </a:p>
        </p:txBody>
      </p:sp>
      <p:pic>
        <p:nvPicPr>
          <p:cNvPr id="16" name="Captura app" descr="Captura de la aplicación Apartment Rent Predictor en Streaml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65760"/>
            <a:ext cx="2517071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GRACIAS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¿Preguntas?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27889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Juan Carlos Del Mar Lostanau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App: apartment-rent-predictor.streamlit.app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Código: github.com/Juancarlosdelmarlostanau/Apartment-rent-predictor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no ejecutivo">
  <a:themeElements>
    <a:clrScheme name="Plano ejecutivo">
      <a:dk1>
        <a:srgbClr val="1F2933"/>
      </a:dk1>
      <a:lt1>
        <a:srgbClr val="FFFFFF"/>
      </a:lt1>
      <a:dk2>
        <a:srgbClr val="1B2A3A"/>
      </a:dk2>
      <a:lt2>
        <a:srgbClr val="F7F5F1"/>
      </a:lt2>
      <a:accent1>
        <a:srgbClr val="C0563A"/>
      </a:accent1>
      <a:accent2>
        <a:srgbClr val="8A939C"/>
      </a:accent2>
      <a:accent3>
        <a:srgbClr val="E4DED5"/>
      </a:accent3>
      <a:accent4>
        <a:srgbClr val="4A5A6A"/>
      </a:accent4>
      <a:accent5>
        <a:srgbClr val="F1E3DD"/>
      </a:accent5>
      <a:accent6>
        <a:srgbClr val="2E3E4F"/>
      </a:accent6>
      <a:hlink>
        <a:srgbClr val="C0563A"/>
      </a:hlink>
      <a:folHlink>
        <a:srgbClr val="8A939C"/>
      </a:folHlink>
    </a:clrScheme>
    <a:fontScheme name="Plano ejecutiv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3359</Words>
  <Application>Microsoft Office PowerPoint</Application>
  <PresentationFormat>Presentación en pantalla (16:9)</PresentationFormat>
  <Paragraphs>372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Plano ejecutivo</vt:lpstr>
      <vt:lpstr>Apartment Rent Predictor</vt:lpstr>
      <vt:lpstr>El problema</vt:lpstr>
      <vt:lpstr>Los datos: lo que encontramos y lo que decidimos</vt:lpstr>
      <vt:lpstr>El heatmap: qué se relaciona con el precio</vt:lpstr>
      <vt:lpstr>Del total a lo esencial: cómo se eligieron las variables</vt:lpstr>
      <vt:lpstr>Todas las combinaciones probadas</vt:lpstr>
      <vt:lpstr>Los modelos: una eliminatoria</vt:lpstr>
      <vt:lpstr>Los hiperparámetros del modelo final</vt:lpstr>
      <vt:lpstr>Resultados</vt:lpstr>
      <vt:lpstr>Hallazgos: qué decide el precio y dónde está el límite</vt:lpstr>
      <vt:lpstr>Prueba con datos nuevos</vt:lpstr>
      <vt:lpstr>Test frente a datos nuevos</vt:lpstr>
      <vt:lpstr>Limitaciones</vt:lpstr>
      <vt:lpstr>Próximos pasos</vt:lpstr>
      <vt:lpstr>Demo en directo</vt:lpstr>
      <vt:lpstr>¿Preguntas?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Apartment Rent Predictor</dc:title>
  <dc:subject>PptxGenJS Presentation</dc:subject>
  <dc:creator>Juan Carlos Del Mar Lostanau</dc:creator>
  <cp:lastModifiedBy>JUAN CARLOS DEL MAR LOSTANAU</cp:lastModifiedBy>
  <cp:revision>2</cp:revision>
  <dcterms:created xsi:type="dcterms:W3CDTF">2026-10-29T23:19:02Z</dcterms:created>
  <dcterms:modified xsi:type="dcterms:W3CDTF">2026-10-29T23:30:39Z</dcterms:modified>
</cp:coreProperties>
</file>